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</p:sldIdLst>
  <p:sldSz cx="18288000" cy="10287000"/>
  <p:notesSz cx="6858000" cy="9144000"/>
  <p:embeddedFontLst>
    <p:embeddedFont>
      <p:font typeface="Montserrat Bold" charset="1" panose="00000800000000000000"/>
      <p:regular r:id="rId37"/>
    </p:embeddedFont>
    <p:embeddedFont>
      <p:font typeface="Montserrat" charset="1" panose="00000500000000000000"/>
      <p:regular r:id="rId38"/>
    </p:embeddedFont>
    <p:embeddedFont>
      <p:font typeface="Poppins Bold" charset="1" panose="0000080000000000000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34" Type="http://schemas.openxmlformats.org/officeDocument/2006/relationships/notesMaster" Target="notesMasters/notesMaster1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Relationship Id="rId54" Type="http://schemas.openxmlformats.org/officeDocument/2006/relationships/slide" Target="slides/slide15.xml"/><Relationship Id="rId55" Type="http://schemas.openxmlformats.org/officeDocument/2006/relationships/slide" Target="slides/slide16.xml"/><Relationship Id="rId56" Type="http://schemas.openxmlformats.org/officeDocument/2006/relationships/slide" Target="slides/slide17.xml"/><Relationship Id="rId57" Type="http://schemas.openxmlformats.org/officeDocument/2006/relationships/slide" Target="slides/slide18.xml"/><Relationship Id="rId58" Type="http://schemas.openxmlformats.org/officeDocument/2006/relationships/slide" Target="slides/slide19.xml"/><Relationship Id="rId59" Type="http://schemas.openxmlformats.org/officeDocument/2006/relationships/slide" Target="slides/slide20.xml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23.xml"/><Relationship Id="rId63" Type="http://schemas.openxmlformats.org/officeDocument/2006/relationships/slide" Target="slides/slide24.xml"/><Relationship Id="rId6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40 s · INTEGRA · Aula 2</a:t>
            </a:r>
          </a:p>
          <a:p/>
          <a:p>
            <a:r>
              <a:t>• Boas-vindas à Escola de Pais</a:t>
            </a:r>
          </a:p>
          <a:p>
            <a:r>
              <a:t>• Tema de hoje: educar com intenção</a:t>
            </a:r>
          </a:p>
          <a:p/>
          <a:p>
            <a:r>
              <a:t>Boa noite, sejam muito bem-vindos à nossa segunda aula da Escola de Pais INTEGRA. Que bom ter vocês aqui de novo. Hoje vamos conversar sobre uma palavra que vai aparecer muitas vezes: intencionalidade. Ou seja, educar sabendo para onde estamos levando nossos filhos, e não só reagindo ao que acontece no dia.</a:t>
            </a:r>
          </a:p>
          <a:p/>
          <a:p>
            <a:r>
              <a:t>→ E para começar, uma frase que talvez incomode um pouco.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Não podemos educar só com o coração</a:t>
            </a:r>
          </a:p>
          <a:p/>
          <a:p>
            <a:r>
              <a:t>• Amor é a base, mas não é método</a:t>
            </a:r>
          </a:p>
          <a:p>
            <a:r>
              <a:t>• Educar com intenção: saber o que quero ensinar</a:t>
            </a:r>
          </a:p>
          <a:p>
            <a:r>
              <a:t>• Pergunta à plateia: o que você quer que seu filho aprenda com você?</a:t>
            </a:r>
          </a:p>
          <a:p/>
          <a:p>
            <a:r>
              <a:t>Todos nós amamos nossos filhos. Ninguém aqui tem dúvida disso. Mas o amor sozinho, sem direção, às vezes vira só emoção do momento: cedo porque fiquei com pena, grito porque estou cansado. Educar de forma intencional é parar e perguntar: o que eu quero que meu filho aprenda com isso? Que tipo de adulto eu estou ajudando a formar? Pensem por um instante: se seu filho pudesse aprender uma única coisa com você, qual seria?</a:t>
            </a:r>
          </a:p>
          <a:p/>
          <a:p>
            <a:r>
              <a:t>→ E educar com intenção começa por uma atitude bem simples.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Não seja omisso</a:t>
            </a:r>
          </a:p>
          <a:p/>
          <a:p>
            <a:r>
              <a:t>• A gelatina: sem forma, cede a qualquer toque</a:t>
            </a:r>
          </a:p>
          <a:p>
            <a:r>
              <a:t>• Omissão também educa, só que para o lado errado</a:t>
            </a:r>
          </a:p>
          <a:p>
            <a:r>
              <a:t>• Seja presente, esteja atento</a:t>
            </a:r>
          </a:p>
          <a:p/>
          <a:p>
            <a:r>
              <a:t>Olhem essa gelatina. Basta encostar que ela se deforma. Muitas vezes nós somos assim com nossos filhos: não tomamos posição, deixamos para depois, deixamos a escola ou a internet decidirem. Só que a omissão também educa. Quando eu não digo nada, meu filho entende que aquilo está tudo bem. Por isso o convite é: seja presente, esteja atento ao que ele vê, fala e sente.</a:t>
            </a:r>
          </a:p>
          <a:p/>
          <a:p>
            <a:r>
              <a:t>→ Mas atenção: estar presente não é só estar no mesmo lugar.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Estar por perto não é estar presente</a:t>
            </a:r>
          </a:p>
          <a:p/>
          <a:p>
            <a:r>
              <a:t>• A cena: família na mesma cama, cada um no seu celular</a:t>
            </a:r>
          </a:p>
          <a:p>
            <a:r>
              <a:t>• Presença é atenção, olhar e conversa</a:t>
            </a:r>
          </a:p>
          <a:p>
            <a:r>
              <a:t>• Pergunta: quanto tempo do seu dia é presença de verdade?</a:t>
            </a:r>
          </a:p>
          <a:p/>
          <a:p>
            <a:r>
              <a:t>Essa imagem é familiar para muita gente. Todo mundo junto, na mesma cama, e ninguém de fato junto. A criança está ali do lado, mas o pai e a mãe estão na tela. Estar por perto não é o mesmo que estar presente. Presença é olhar no olho, perguntar como foi o dia e ouvir a resposta inteira. Vale a pena pensar: do tempo que passo com meu filho, quanto é presença de verdade?</a:t>
            </a:r>
          </a:p>
          <a:p/>
          <a:p>
            <a:r>
              <a:t>→ E isso importa, porque o jeito como estamos com eles deixa marca.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A sua maneira de educar impacta</a:t>
            </a:r>
          </a:p>
          <a:p/>
          <a:p>
            <a:r>
              <a:t>• O jeito de educar molda a vida do filho</a:t>
            </a:r>
          </a:p>
          <a:p>
            <a:r>
              <a:t>• Filhos aprendem mais pelo exemplo que pelo discurso</a:t>
            </a:r>
          </a:p>
          <a:p/>
          <a:p>
            <a:r>
              <a:t>A sua maneira de educar impacta a vida do seu filho. Não só o que você fala, mas principalmente o que você faz. Se eu digo para ele largar o celular e eu não largo o meu, ele aprende o meu exemplo, não a minha frase. Cada atitude nossa é uma aula que eles assistem todos os dias.</a:t>
            </a:r>
          </a:p>
          <a:p/>
          <a:p>
            <a:r>
              <a:t>→ E aqui vale um alerta para não cairmos em extremos.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Nada é ruim, nada é bom totalmente</a:t>
            </a:r>
          </a:p>
          <a:p/>
          <a:p>
            <a:r>
              <a:t>• Tecnologia, brincadeira, liberdade: nada é só bom ou só ruim</a:t>
            </a:r>
          </a:p>
          <a:p>
            <a:r>
              <a:t>• O que define é a dose e o acompanhamento</a:t>
            </a:r>
          </a:p>
          <a:p>
            <a:r>
              <a:t>• Evitar culpa e evitar proibir tudo</a:t>
            </a:r>
          </a:p>
          <a:p/>
          <a:p>
            <a:r>
              <a:t>Não estou aqui para dizer que celular é o vilão ou que vocês estão fazendo tudo errado. Nada é ruim totalmente, e nada é bom totalmente. O celular pode ensinar e pode atrapalhar. A liberdade pode fortalecer e pode deixar a criança sozinha. O que faz a diferença é a dose e se existe um adulto acompanhando. Então, sem culpa e sem radicalismo: com equilíbrio.</a:t>
            </a:r>
          </a:p>
          <a:p/>
          <a:p>
            <a:r>
              <a:t>→ Afinal, todos nós queremos a mesma coisa para os nossos filhos.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Um filho vencedor</a:t>
            </a:r>
          </a:p>
          <a:p/>
          <a:p>
            <a:r>
              <a:t>• O desejo comum: ver o filho bem daqui a alguns anos</a:t>
            </a:r>
          </a:p>
          <a:p>
            <a:r>
              <a:t>• Vencedor: feliz, íntegro, com bons valores</a:t>
            </a:r>
          </a:p>
          <a:p/>
          <a:p>
            <a:r>
              <a:t>Eu quero que daqui a alguns anos você tenha um filho vencedor. E quando digo vencedor, não falo só de dinheiro ou diploma. Falo de um adulto feliz, com bons valores, que sabe lidar com a vida e que vai querer estar perto de vocês, como nessa foto, rindo junto no sofá.</a:t>
            </a:r>
          </a:p>
          <a:p/>
          <a:p>
            <a:r>
              <a:t>→ Mas para que isso aconteça…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 · Mas para que isso aconteça…</a:t>
            </a:r>
          </a:p>
          <a:p/>
          <a:p>
            <a:r>
              <a:t>• Os degraus: cada dia é um passo</a:t>
            </a:r>
          </a:p>
          <a:p>
            <a:r>
              <a:t>• Não acontece por acaso</a:t>
            </a:r>
          </a:p>
          <a:p/>
          <a:p>
            <a:r>
              <a:t>Mas para que isso aconteça, é preciso subir degrau por degrau. Não existe atalho. Um filho vencedor é construído hoje, nas pequenas escolhas do dia a dia.</a:t>
            </a:r>
          </a:p>
          <a:p/>
          <a:p>
            <a:r>
              <a:t>→ E para entender por que o dia a dia pesa tanto, olhem esta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A criança é esponja</a:t>
            </a:r>
          </a:p>
          <a:p/>
          <a:p>
            <a:r>
              <a:t>• A esponja absorve tudo, o limpo e o sujo</a:t>
            </a:r>
          </a:p>
          <a:p>
            <a:r>
              <a:t>• A criança não escolhe o que absorve</a:t>
            </a:r>
          </a:p>
          <a:p/>
          <a:p>
            <a:r>
              <a:t>O que uma esponja faz? Ela absorve. Tudo. Se a água é limpa, absorve água limpa. Se é suja, absorve a sujeira. Ela não escolhe. A criança é assim: absorve o que vê em casa, o tom de voz, as palavras, as telas, o que ouve dos adultos. Ela ainda não tem filtro próprio.</a:t>
            </a:r>
          </a:p>
          <a:p/>
          <a:p>
            <a:r>
              <a:t>→ E tudo isso vai parar em um lugar.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Tudo fica registrado</a:t>
            </a:r>
          </a:p>
          <a:p/>
          <a:p>
            <a:r>
              <a:t>• O cérebro da criança está em formação</a:t>
            </a:r>
          </a:p>
          <a:p>
            <a:r>
              <a:t>• O que ela vive vira referência para a vida</a:t>
            </a:r>
          </a:p>
          <a:p/>
          <a:p>
            <a:r>
              <a:t>No cérebro. O cérebro da criança está se formando, e cada experiência deixa um registro. O que ela vive em casa vira referência de como o mundo funciona: como se resolve um conflito, como se trata quem a gente ama, o que é certo e errado. Por isso o que entra importa tanto.</a:t>
            </a:r>
          </a:p>
          <a:p/>
          <a:p>
            <a:r>
              <a:t>→ E se a criança é esponja, alguém precisa cuidar do que chega até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Os pais precisam ser filtros</a:t>
            </a:r>
          </a:p>
          <a:p/>
          <a:p>
            <a:r>
              <a:t>• Criança é esponja, só absorve</a:t>
            </a:r>
          </a:p>
          <a:p>
            <a:r>
              <a:t>• Pais filtram: escolhem, explicam, protegem</a:t>
            </a:r>
          </a:p>
          <a:p>
            <a:r>
              <a:t>• Filtrar não é esconder o mundo, é traduzir o mundo</a:t>
            </a:r>
          </a:p>
          <a:p/>
          <a:p>
            <a:r>
              <a:t>Os pais precisam ser filtros da realidade, porque a criança é esponja, e a esponja só absorve. Ser filtro não é colocar o filho numa bolha. É escolher o que ele está pronto para ver e, quando algo difícil chegar, estar ali para explicar, dar sentido, mostrar o que é certo. O filtro deixa passar o que nutre e segura o que faz mal.</a:t>
            </a:r>
          </a:p>
          <a:p/>
          <a:p>
            <a:r>
              <a:t>→ E hoje tem muita coisa tentando passar por esse filtro.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Valores que consomem</a:t>
            </a:r>
          </a:p>
          <a:p/>
          <a:p>
            <a:r>
              <a:t>• Youtubers, games, redes sociais, celular</a:t>
            </a:r>
          </a:p>
          <a:p>
            <a:r>
              <a:t>• Esses canais também ensinam valores</a:t>
            </a:r>
          </a:p>
          <a:p>
            <a:r>
              <a:t>• Pergunta: você sabe quem seu filho assiste?</a:t>
            </a:r>
          </a:p>
          <a:p/>
          <a:p>
            <a:r>
              <a:t>Nossos filhos estão sendo criados com os valores que consomem: youtubers, games, redes sociais, celular. Essas telas também educam. Elas ensinam o que é ser bonito, o que é ter sucesso, como se fala com os outros. Então eu pergunto: você sabe quem são os youtubers favoritos do seu filho? Já assistiu junto com ele?</a:t>
            </a:r>
          </a:p>
          <a:p/>
          <a:p>
            <a:r>
              <a:t>→ E muitas vezes isso acontece bem do nosso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Todos juntos, cada um na sua tela</a:t>
            </a:r>
          </a:p>
          <a:p/>
          <a:p>
            <a:r>
              <a:t>• A cena: pai no notebook, filha no celular, mãe no tablet</a:t>
            </a:r>
          </a:p>
          <a:p>
            <a:r>
              <a:t>• Ninguém está filtrando nada</a:t>
            </a:r>
          </a:p>
          <a:p/>
          <a:p>
            <a:r>
              <a:t>Olhem essa família. Estão todos no sofá, juntos. O pai no notebook, a filha no celular, a mãe no tablet. Ninguém está fazendo nada de errado, e ao mesmo tempo ninguém está filtrando nada. A filha está absorvendo o que aparece na tela dela, sozinha. Quantas vezes por semana a nossa sala fica assim?</a:t>
            </a:r>
          </a:p>
          <a:p/>
          <a:p>
            <a:r>
              <a:t>→ E isso leva a uma pergunta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Qual é a sua lente?</a:t>
            </a:r>
          </a:p>
          <a:p/>
          <a:p>
            <a:r>
              <a:t>• A lente define o que enxergamos</a:t>
            </a:r>
          </a:p>
          <a:p>
            <a:r>
              <a:t>• Pergunta para a plateia responder em silêncio ou em voz alta</a:t>
            </a:r>
          </a:p>
          <a:p/>
          <a:p>
            <a:r>
              <a:t>Qual é a sua lente? Cada um de nós olha para a educação dos filhos por uma lente: a do cansaço, a da culpa, a do medo, a do jeito que fomos criados. Essa lente define o que a gente vê e o que deixa passar. Peço que vocês pensem por um momento, ou compartilhem se quiserem: com que lente você tem olhado para o seu filho?</a:t>
            </a:r>
          </a:p>
          <a:p/>
          <a:p>
            <a:r>
              <a:t>→ Porque, no fim das contas, a lente e o filtro são vocês.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Você é o filtro!</a:t>
            </a:r>
          </a:p>
          <a:p/>
          <a:p>
            <a:r>
              <a:t>• Não é a escola nem o aplicativo</a:t>
            </a:r>
          </a:p>
          <a:p>
            <a:r>
              <a:t>• O filtro principal é o pai e a mãe</a:t>
            </a:r>
          </a:p>
          <a:p/>
          <a:p>
            <a:r>
              <a:t>Você é o filtro. Não é a escola, não é o controle parental do aplicativo, não é a avó. Todos eles ajudam, mas o filtro principal é quem está em casa, quem tem a autoridade e o vínculo. É você.</a:t>
            </a:r>
          </a:p>
          <a:p/>
          <a:p>
            <a:r>
              <a:t>→ Só que tem um ponto que pesa na rotina de quase todos nós.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Presente não substitui presença</a:t>
            </a:r>
          </a:p>
          <a:p/>
          <a:p>
            <a:r>
              <a:t>• Trabalhamos muito para dar o melhor, o sonho da Disney</a:t>
            </a:r>
          </a:p>
          <a:p>
            <a:r>
              <a:t>• Quem está em casa ensinando o que é certo e errado?</a:t>
            </a:r>
          </a:p>
          <a:p>
            <a:r>
              <a:t>• Presente não substitui presença</a:t>
            </a:r>
          </a:p>
          <a:p/>
          <a:p>
            <a:r>
              <a:t>Você trabalha, trabalha, trabalha. Quer dar o melhor, sonha em levar pra Disney. E isso é bonito, é cuidado. Mas, enquanto isso, quem está em casa ensinando o que é certo e o que é errado? O presente, aquilo que a gente compra, não substitui a presença. O brinquedo dura uma semana. A conversa de dez minutos no fim do dia fica para a vida.</a:t>
            </a:r>
          </a:p>
          <a:p/>
          <a:p>
            <a:r>
              <a:t>→ E muitas vezes, quando finalmente chegamos em casa, acontece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O celular para ter paz</a:t>
            </a:r>
          </a:p>
          <a:p/>
          <a:p>
            <a:r>
              <a:t>• Chegamos cansados e damos o celular para ter paz</a:t>
            </a:r>
          </a:p>
          <a:p>
            <a:r>
              <a:t>• Perdemos a chance de ensinar valores</a:t>
            </a:r>
          </a:p>
          <a:p>
            <a:r>
              <a:t>• Sem culpa: trocar um momento por dia já muda</a:t>
            </a:r>
          </a:p>
          <a:p/>
          <a:p>
            <a:r>
              <a:t>Aí você chega em casa cansado e dá o celular para ter paz. Todo mundo já fez isso, eu também. E nessa você perde a oportunidade de ensinar valores, de se fazer presente. Não precisa ser perfeito. Comece trocando um momento por dia: o jantar sem tela, a conversa antes de dormir. Pequeno, mas intencional.</a:t>
            </a:r>
          </a:p>
          <a:p/>
          <a:p>
            <a:r>
              <a:t>→ Porque educar é isso: construir com intenção.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Construa seu filho com intencionalidade</a:t>
            </a:r>
          </a:p>
          <a:p/>
          <a:p>
            <a:r>
              <a:t>• Educar é construir, peça por peça</a:t>
            </a:r>
          </a:p>
          <a:p>
            <a:r>
              <a:t>• Um jogo, uma conversa, um momento junto</a:t>
            </a:r>
          </a:p>
          <a:p/>
          <a:p>
            <a:r>
              <a:t>Construa seu filho com intencionalidade. Como nessa foto, pai e filho montando um jogo juntos, peça por peça. Cada momento assim é uma peça na construção de quem ele vai ser. Não é sobre ter muito tempo, é sobre usar o tempo que temos com intenção.</a:t>
            </a:r>
          </a:p>
          <a:p/>
          <a:p>
            <a:r>
              <a:t>→ E construir também exige uma ferramenta que muitos pais têm medo de usar.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Limites: afasta ou aproxima?</a:t>
            </a:r>
          </a:p>
          <a:p/>
          <a:p>
            <a:r>
              <a:t>• A cena do supermercado: a birra</a:t>
            </a:r>
          </a:p>
          <a:p>
            <a:r>
              <a:t>• Pergunta: o limite afasta ou aproxima?</a:t>
            </a:r>
          </a:p>
          <a:p>
            <a:r>
              <a:t>• Ouvir a plateia</a:t>
            </a:r>
          </a:p>
          <a:p/>
          <a:p>
            <a:r>
              <a:t>Limites. Quem nunca passou por essa cena do supermercado? A criança quer, a gente diz não, e vem a birra. Muitos pais têm medo de dizer não porque acham que o filho vai se afastar, vai ficar com raiva, vai gostar menos deles. Então eu pergunto para vocês: o limite afasta ou aproxima? Quero ouvir o que vocês pensam.</a:t>
            </a:r>
          </a:p>
          <a:p/>
          <a:p>
            <a:r>
              <a:t>→ E a resposta talvez surpreenda.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Limite é cuidado</a:t>
            </a:r>
          </a:p>
          <a:p/>
          <a:p>
            <a:r>
              <a:t>• Limite é cuidado, é segurança</a:t>
            </a:r>
          </a:p>
          <a:p>
            <a:r>
              <a:t>• É amor que ensina</a:t>
            </a:r>
          </a:p>
          <a:p>
            <a:r>
              <a:t>• Exemplo: escovar os dentes mesmo sem vontade</a:t>
            </a:r>
          </a:p>
          <a:p/>
          <a:p>
            <a:r>
              <a:t>Limite é cuidado, é segurança, é amor que ensina. Pensem na escova de dentes. Nenhuma criança acorda querendo escovar os dentes, e mesmo assim a gente insiste, porque sabe que é para o bem dela. Limite é isso. A criança que tem limites se sente segura, porque sabe que existe um adulto cuidando. O limite, dado com carinho, aproxima.</a:t>
            </a:r>
          </a:p>
          <a:p/>
          <a:p>
            <a:r>
              <a:t>→ Só que, para dar limite com calma e intenção, a gente precisa de tempo. E tempo anda em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Nosso dia a dia está acelerado</a:t>
            </a:r>
          </a:p>
          <a:p/>
          <a:p>
            <a:r>
              <a:t>• Trabalho, casa, filhos, tudo ao mesmo tempo</a:t>
            </a:r>
          </a:p>
          <a:p>
            <a:r>
              <a:t>• A pressa empurra a educação para o automático</a:t>
            </a:r>
          </a:p>
          <a:p/>
          <a:p>
            <a:r>
              <a:t>Nosso dia a dia está cada vez mais acelerado. A mãe que trabalha com o filho do lado, o pai que responde mensagem no jantar, todo mundo fazendo mil coisas ao mesmo tempo. Ninguém aqui está sendo julgado por isso. Mas a pressa tem um efeito: ela empurra a educação para o piloto automático.</a:t>
            </a:r>
          </a:p>
          <a:p/>
          <a:p>
            <a:r>
              <a:t>→ E no piloto automático a gente vira bombeiro.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Apagando incêndios</a:t>
            </a:r>
          </a:p>
          <a:p/>
          <a:p>
            <a:r>
              <a:t>• Reagir só quando o problema aparece</a:t>
            </a:r>
          </a:p>
          <a:p>
            <a:r>
              <a:t>• Apagar incêndio não é educar com intenção</a:t>
            </a:r>
          </a:p>
          <a:p>
            <a:r>
              <a:t>• Prevenir: conversar antes de o problema surgir</a:t>
            </a:r>
          </a:p>
          <a:p/>
          <a:p>
            <a:r>
              <a:t>Quando você está só apagando incêndios, não está educando com intencionalidade. É quando a gente só aparece na hora da briga, da nota baixa, da bronca da escola. Apagar incêndio é necessário, mas não é educar. Educar é conversar antes, combinar regras antes, estar presente antes de o fogo começar.</a:t>
            </a:r>
          </a:p>
          <a:p/>
          <a:p>
            <a:r>
              <a:t>→ E para fechar, quero deixar uma pergunta para vocês levarem para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min · Proprietário ou Embaixador?</a:t>
            </a:r>
          </a:p>
          <a:p/>
          <a:p>
            <a:r>
              <a:t>• Proprietário: controla, prende, o filho é posse</a:t>
            </a:r>
          </a:p>
          <a:p>
            <a:r>
              <a:t>• Embaixador: representa valores, orienta, prepara para o mundo</a:t>
            </a:r>
          </a:p>
          <a:p>
            <a:r>
              <a:t>• Pergunta para levar para casa</a:t>
            </a:r>
          </a:p>
          <a:p/>
          <a:p>
            <a:r>
              <a:t>Proprietário ou embaixador? O proprietário trata o filho como posse: controla tudo, prende, como essas algemas. O embaixador representa algo maior. Ele vive e mostra os valores que quer passar, orienta e prepara o filho para ir para o mundo. Nossos filhos não são nossos para sempre, eles são nossos para preparar. Levem essa pergunta para casa: hoje, eu tenho sido proprietário ou embaixador do meu filho?</a:t>
            </a:r>
          </a:p>
          <a:p/>
          <a:p>
            <a:r>
              <a:t>→ E para encerrar, uma frase para guardar.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Educar com intenção</a:t>
            </a:r>
          </a:p>
          <a:p/>
          <a:p>
            <a:r>
              <a:t>• Retomar: presença, filtro, limite</a:t>
            </a:r>
          </a:p>
          <a:p>
            <a:r>
              <a:t>• Compromisso da semana: um momento intencional por dia</a:t>
            </a:r>
          </a:p>
          <a:p/>
          <a:p>
            <a:r>
              <a:t>Educar com intenção é escolher estar presente. Hoje falamos de três coisas: estar presente de verdade, ser o filtro do que chega até nossos filhos e usar o limite como amor. O meu convite para esta semana é simples: escolha um momento por dia, sem tela, só seu e do seu filho. Pequeno, mas intencional. Muito obrigada pela presença de vocês.</a:t>
            </a:r>
          </a:p>
          <a:p/>
          <a:p>
            <a:r>
              <a:t>→ E continuem com a gente nas redes.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 · Contato</a:t>
            </a:r>
          </a:p>
          <a:p/>
          <a:p>
            <a:r>
              <a:t>• Instagram @integra_escoladepais (QR code)</a:t>
            </a:r>
          </a:p>
          <a:p>
            <a:r>
              <a:t>• WhatsApp e e-mail</a:t>
            </a:r>
          </a:p>
          <a:p/>
          <a:p>
            <a:r>
              <a:t>Quem quiser continuar a conversa, nos siga no Instagram, @integra_escoladepais. É só apontar a câmera para o QR code. O WhatsApp e o e-mail estão aqui também. Até a próxima aula!</a:t>
            </a:r>
          </a:p>
          <a:p/>
          <a:p>
            <a:r>
              <a:t>→ Mensagem final: um momento intencional por dia, sem tela, só você e seu filho.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56.jpeg"/><Relationship Id="rId4" Type="http://schemas.openxmlformats.org/officeDocument/2006/relationships/image" Target="../media/image66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image" Target="../media/image6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69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image" Target="../media/image6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66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jpg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image" Target="../media/image81.jpg"/><Relationship Id="rId4" Type="http://schemas.openxmlformats.org/officeDocument/2006/relationships/image" Target="../media/image82.jp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image" Target="../media/image8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image" Target="../media/image6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image" Target="../media/image6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image" Target="../media/image6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89.jp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image" Target="../media/image91.jpg"/><Relationship Id="rId4" Type="http://schemas.openxmlformats.org/officeDocument/2006/relationships/image" Target="../media/image92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56.jpe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9.png"/><Relationship Id="rId4" Type="http://schemas.openxmlformats.org/officeDocument/2006/relationships/image" Target="../media/image61.png"/><Relationship Id="rId5" Type="http://schemas.openxmlformats.org/officeDocument/2006/relationships/image" Target="../media/image63.png"/><Relationship Id="rId6" Type="http://schemas.openxmlformats.org/officeDocument/2006/relationships/image" Target="../media/image99.png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36554"/>
              </a:gs>
              <a:gs pos="100000">
                <a:srgbClr val="0263BA"/>
              </a:gs>
            </a:gsLst>
            <a:lin ang="2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dge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868680"/>
            <a:ext cx="8778240" cy="8684052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475720" y="2377440"/>
            <a:ext cx="5760720" cy="5760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eg"/>
          <p:cNvPicPr>
            <a:picLocks noChangeAspect="1"/>
          </p:cNvPicPr>
          <p:nvPr/>
        </p:nvPicPr>
        <p:blipFill>
          <a:blip r:embed="rId3"/>
          <a:srcRect t="37" b="37"/>
          <a:stretch>
            <a:fillRect/>
          </a:stretch>
        </p:blipFill>
        <p:spPr>
          <a:xfrm>
            <a:off x="12024360" y="2834640"/>
            <a:ext cx="4663440" cy="4864608"/>
          </a:xfrm>
          <a:prstGeom prst="ellipse">
            <a:avLst/>
          </a:prstGeom>
        </p:spPr>
      </p:pic>
      <p:sp>
        <p:nvSpPr>
          <p:cNvPr id="6" name="Oval 5"/>
          <p:cNvSpPr/>
          <p:nvPr/>
        </p:nvSpPr>
        <p:spPr>
          <a:xfrm>
            <a:off x="-2011680" y="7863840"/>
            <a:ext cx="4572000" cy="4572000"/>
          </a:xfrm>
          <a:prstGeom prst="ellipse">
            <a:avLst/>
          </a:prstGeom>
          <a:noFill/>
          <a:ln w="38100">
            <a:solidFill>
              <a:srgbClr val="85C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280160" y="8595360"/>
            <a:ext cx="3108960" cy="3108960"/>
          </a:xfrm>
          <a:prstGeom prst="ellipse">
            <a:avLst/>
          </a:prstGeom>
          <a:noFill/>
          <a:ln w="25400">
            <a:solidFill>
              <a:srgbClr val="24A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822960"/>
            <a:ext cx="2173494" cy="822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97280" y="303580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28803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ESCOLA DE PAIS · ENCONTRO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9144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0200" b="1" spc="-300">
                <a:solidFill>
                  <a:srgbClr val="FFFFFF"/>
                </a:solidFill>
                <a:latin typeface="Montserrat"/>
              </a:rPr>
              <a:t>Aula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8978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0">
                <a:solidFill>
                  <a:srgbClr val="FFFFFF"/>
                </a:solidFill>
                <a:latin typeface="Montserrat"/>
              </a:rPr>
              <a:t>Educar 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7208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 spc="-100">
                <a:solidFill>
                  <a:srgbClr val="85C227"/>
                </a:solidFill>
                <a:latin typeface="Montserrat"/>
              </a:rPr>
              <a:t>intencionalidade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8229600"/>
            <a:ext cx="384048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8229600"/>
            <a:ext cx="3840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spc="200">
                <a:solidFill>
                  <a:srgbClr val="036554"/>
                </a:solidFill>
                <a:latin typeface="Montserrat"/>
              </a:rPr>
              <a:t>ALINE RICHETTO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435840" y="-1371600"/>
            <a:ext cx="7772400" cy="7772400"/>
          </a:xfrm>
          <a:prstGeom prst="ellipse">
            <a:avLst/>
          </a:prstGeom>
          <a:solidFill>
            <a:srgbClr val="24A2F7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002-002.jpg"/>
          <p:cNvPicPr>
            <a:picLocks noChangeAspect="1"/>
          </p:cNvPicPr>
          <p:nvPr/>
        </p:nvPicPr>
        <p:blipFill>
          <a:blip r:embed="rId2"/>
          <a:srcRect l="26275" r="26275"/>
          <a:stretch>
            <a:fillRect/>
          </a:stretch>
        </p:blipFill>
        <p:spPr>
          <a:xfrm>
            <a:off x="10424160" y="1143000"/>
            <a:ext cx="6766560" cy="9509760"/>
          </a:xfrm>
          <a:prstGeom prst="round2SameRect">
            <a:avLst>
              <a:gd name="adj1" fmla="val 50000"/>
              <a:gd name="adj2" fmla="val 0"/>
            </a:avLst>
          </a:prstGeom>
        </p:spPr>
      </p:pic>
      <p:pic>
        <p:nvPicPr>
          <p:cNvPr id="5" name="Picture 4" descr="bad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7223760"/>
            <a:ext cx="1828800" cy="1828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1 · PRESENÇA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9144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8400" b="1" spc="-150">
                <a:solidFill>
                  <a:srgbClr val="004380"/>
                </a:solidFill>
                <a:latin typeface="Montserrat"/>
              </a:rPr>
              <a:t>Não podemos</a:t>
            </a:r>
          </a:p>
          <a:p>
            <a:pPr algn="l">
              <a:lnSpc>
                <a:spcPct val="92000"/>
              </a:lnSpc>
            </a:pPr>
            <a:r>
              <a:rPr sz="8400" b="1" spc="-150">
                <a:solidFill>
                  <a:srgbClr val="004380"/>
                </a:solidFill>
                <a:latin typeface="Montserrat"/>
              </a:rPr>
              <a:t>educar só com</a:t>
            </a:r>
          </a:p>
          <a:p>
            <a:pPr algn="l">
              <a:lnSpc>
                <a:spcPct val="92000"/>
              </a:lnSpc>
            </a:pPr>
            <a:r>
              <a:rPr sz="8400" b="1" spc="-150">
                <a:solidFill>
                  <a:srgbClr val="004380"/>
                </a:solidFill>
                <a:latin typeface="Montserrat"/>
              </a:rPr>
              <a:t>o </a:t>
            </a:r>
            <a:r>
              <a:rPr sz="8400" b="1" spc="-150">
                <a:solidFill>
                  <a:srgbClr val="0263BA"/>
                </a:solidFill>
                <a:latin typeface="Montserrat"/>
              </a:rPr>
              <a:t>coração.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6309360"/>
            <a:ext cx="8595360" cy="1188720"/>
          </a:xfrm>
          <a:prstGeom prst="roundRect">
            <a:avLst>
              <a:gd name="adj" fmla="val 50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6309360"/>
            <a:ext cx="85953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spc="-50">
                <a:solidFill>
                  <a:srgbClr val="004380"/>
                </a:solidFill>
                <a:latin typeface="Montserrat"/>
              </a:rPr>
              <a:t>Eduque de forma intencional!</a:t>
            </a:r>
          </a:p>
        </p:txBody>
      </p:sp>
      <p:pic>
        <p:nvPicPr>
          <p:cNvPr id="11" name="Picture 10" descr="logo_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36554"/>
              </a:gs>
              <a:gs pos="100000">
                <a:srgbClr val="024F62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03-005.jpg"/>
          <p:cNvPicPr>
            <a:picLocks noChangeAspect="1"/>
          </p:cNvPicPr>
          <p:nvPr/>
        </p:nvPicPr>
        <p:blipFill>
          <a:blip r:embed="rId2"/>
          <a:srcRect l="19204" r="19204"/>
          <a:stretch>
            <a:fillRect/>
          </a:stretch>
        </p:blipFill>
        <p:spPr>
          <a:xfrm>
            <a:off x="8778240" y="0"/>
            <a:ext cx="95097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89520" y="7132320"/>
            <a:ext cx="2377440" cy="23774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60" y="490"/>
                </a:moveTo>
                <a:cubicBezTo>
                  <a:pt x="964" y="625"/>
                  <a:pt x="933" y="830"/>
                  <a:pt x="841" y="909"/>
                </a:cubicBezTo>
                <a:cubicBezTo>
                  <a:pt x="749" y="987"/>
                  <a:pt x="533" y="996"/>
                  <a:pt x="409" y="960"/>
                </a:cubicBezTo>
                <a:cubicBezTo>
                  <a:pt x="285" y="924"/>
                  <a:pt x="159" y="813"/>
                  <a:pt x="97" y="695"/>
                </a:cubicBezTo>
                <a:cubicBezTo>
                  <a:pt x="35" y="578"/>
                  <a:pt x="0" y="365"/>
                  <a:pt x="40" y="256"/>
                </a:cubicBezTo>
                <a:cubicBezTo>
                  <a:pt x="93" y="146"/>
                  <a:pt x="284" y="66"/>
                  <a:pt x="414" y="40"/>
                </a:cubicBezTo>
                <a:cubicBezTo>
                  <a:pt x="544" y="14"/>
                  <a:pt x="728" y="23"/>
                  <a:pt x="819" y="98"/>
                </a:cubicBezTo>
                <a:cubicBezTo>
                  <a:pt x="910" y="173"/>
                  <a:pt x="956" y="354"/>
                  <a:pt x="960" y="490"/>
                </a:cubicBezTo>
                <a:close/>
              </a:path>
            </a:pathLst>
          </a:cu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1 · PRESENÇA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7498079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0" b="1" spc="-200">
                <a:solidFill>
                  <a:srgbClr val="FFFFFF"/>
                </a:solidFill>
                <a:latin typeface="Montserrat"/>
              </a:rPr>
              <a:t>Não seja</a:t>
            </a:r>
          </a:p>
          <a:p>
            <a:pPr algn="l">
              <a:lnSpc>
                <a:spcPct val="90000"/>
              </a:lnSpc>
            </a:pPr>
            <a:r>
              <a:rPr sz="13000" b="1" spc="-200">
                <a:solidFill>
                  <a:srgbClr val="FFFFFF"/>
                </a:solidFill>
                <a:latin typeface="Montserrat"/>
              </a:rPr>
              <a:t>omisso.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5916168"/>
            <a:ext cx="566928" cy="566928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916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36554"/>
                </a:solidFill>
                <a:latin typeface="Montserra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5806440"/>
            <a:ext cx="6400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50">
                <a:solidFill>
                  <a:srgbClr val="85C227"/>
                </a:solidFill>
                <a:latin typeface="Montserrat"/>
              </a:rPr>
              <a:t>Seja presente.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6967728"/>
            <a:ext cx="566928" cy="566928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6967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36554"/>
                </a:solidFill>
                <a:latin typeface="Montserra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6858000"/>
            <a:ext cx="6400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50">
                <a:solidFill>
                  <a:srgbClr val="85C227"/>
                </a:solidFill>
                <a:latin typeface="Montserrat"/>
              </a:rPr>
              <a:t>Esteja atento!</a:t>
            </a:r>
          </a:p>
        </p:txBody>
      </p:sp>
      <p:pic>
        <p:nvPicPr>
          <p:cNvPr id="14" name="Picture 13" descr="logo_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04-008.jpg"/>
          <p:cNvPicPr>
            <a:picLocks noChangeAspect="1"/>
          </p:cNvPicPr>
          <p:nvPr/>
        </p:nvPicPr>
        <p:blipFill>
          <a:blip r:embed="rId2"/>
          <a:srcRect t="4865" b="486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>
                  <a:alpha val="0"/>
                </a:srgbClr>
              </a:gs>
              <a:gs pos="45000">
                <a:srgbClr val="002B52">
                  <a:alpha val="15000"/>
                </a:srgbClr>
              </a:gs>
              <a:gs pos="100000">
                <a:srgbClr val="002B52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0698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9144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FFFFFF"/>
                </a:solidFill>
                <a:latin typeface="Montserrat"/>
              </a:rPr>
              <a:t>PARTE 1 · PRESENÇA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5544800" cy="4023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0500" b="1" spc="-150">
                <a:solidFill>
                  <a:srgbClr val="FFFFFF"/>
                </a:solidFill>
                <a:latin typeface="Montserrat"/>
              </a:rPr>
              <a:t>Estar por perto</a:t>
            </a:r>
          </a:p>
          <a:p>
            <a:pPr algn="l">
              <a:lnSpc>
                <a:spcPct val="95000"/>
              </a:lnSpc>
            </a:pPr>
            <a:r>
              <a:rPr sz="6200" b="0">
                <a:solidFill>
                  <a:srgbClr val="FFFFFF"/>
                </a:solidFill>
                <a:latin typeface="Montserrat"/>
              </a:rPr>
              <a:t>não é o mesmo que </a:t>
            </a:r>
            <a:r>
              <a:rPr sz="6200" b="1">
                <a:solidFill>
                  <a:srgbClr val="85C227"/>
                </a:solidFill>
                <a:latin typeface="Montserrat"/>
              </a:rPr>
              <a:t>estar presente!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8778240" cy="87782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60" y="511"/>
                </a:moveTo>
                <a:cubicBezTo>
                  <a:pt x="956" y="644"/>
                  <a:pt x="856" y="821"/>
                  <a:pt x="760" y="895"/>
                </a:cubicBezTo>
                <a:cubicBezTo>
                  <a:pt x="665" y="970"/>
                  <a:pt x="507" y="985"/>
                  <a:pt x="387" y="960"/>
                </a:cubicBezTo>
                <a:cubicBezTo>
                  <a:pt x="267" y="935"/>
                  <a:pt x="88" y="852"/>
                  <a:pt x="40" y="743"/>
                </a:cubicBezTo>
                <a:cubicBezTo>
                  <a:pt x="0" y="635"/>
                  <a:pt x="40" y="426"/>
                  <a:pt x="97" y="309"/>
                </a:cubicBezTo>
                <a:cubicBezTo>
                  <a:pt x="154" y="191"/>
                  <a:pt x="268" y="75"/>
                  <a:pt x="382" y="40"/>
                </a:cubicBezTo>
                <a:cubicBezTo>
                  <a:pt x="497" y="5"/>
                  <a:pt x="686" y="18"/>
                  <a:pt x="782" y="97"/>
                </a:cubicBezTo>
                <a:cubicBezTo>
                  <a:pt x="878" y="175"/>
                  <a:pt x="964" y="378"/>
                  <a:pt x="960" y="511"/>
                </a:cubicBezTo>
                <a:close/>
              </a:path>
            </a:pathLst>
          </a:cu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005-013.jpg"/>
          <p:cNvPicPr>
            <a:picLocks noChangeAspect="1"/>
          </p:cNvPicPr>
          <p:nvPr/>
        </p:nvPicPr>
        <p:blipFill>
          <a:blip r:embed="rId2"/>
          <a:srcRect l="16812" r="16812"/>
          <a:stretch>
            <a:fillRect/>
          </a:stretch>
        </p:blipFill>
        <p:spPr>
          <a:xfrm>
            <a:off x="868680" y="1097280"/>
            <a:ext cx="8229600" cy="82296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60" y="489"/>
                </a:moveTo>
                <a:cubicBezTo>
                  <a:pt x="964" y="605"/>
                  <a:pt x="911" y="773"/>
                  <a:pt x="816" y="852"/>
                </a:cubicBezTo>
                <a:cubicBezTo>
                  <a:pt x="722" y="930"/>
                  <a:pt x="511" y="990"/>
                  <a:pt x="393" y="960"/>
                </a:cubicBezTo>
                <a:cubicBezTo>
                  <a:pt x="274" y="930"/>
                  <a:pt x="165" y="784"/>
                  <a:pt x="106" y="670"/>
                </a:cubicBezTo>
                <a:cubicBezTo>
                  <a:pt x="47" y="556"/>
                  <a:pt x="0" y="383"/>
                  <a:pt x="40" y="278"/>
                </a:cubicBezTo>
                <a:cubicBezTo>
                  <a:pt x="89" y="173"/>
                  <a:pt x="273" y="60"/>
                  <a:pt x="398" y="40"/>
                </a:cubicBezTo>
                <a:cubicBezTo>
                  <a:pt x="523" y="20"/>
                  <a:pt x="697" y="81"/>
                  <a:pt x="791" y="156"/>
                </a:cubicBezTo>
                <a:cubicBezTo>
                  <a:pt x="885" y="231"/>
                  <a:pt x="956" y="373"/>
                  <a:pt x="960" y="489"/>
                </a:cubicBezTo>
                <a:close/>
              </a:path>
            </a:pathLst>
          </a:custGeom>
        </p:spPr>
      </p:pic>
      <p:sp>
        <p:nvSpPr>
          <p:cNvPr id="5" name="Rectangle 4"/>
          <p:cNvSpPr/>
          <p:nvPr/>
        </p:nvSpPr>
        <p:spPr>
          <a:xfrm>
            <a:off x="1005840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708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1 · PRESENÇA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920240"/>
            <a:ext cx="7680960" cy="5943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100" b="1" spc="-150">
                <a:solidFill>
                  <a:srgbClr val="004380"/>
                </a:solidFill>
                <a:latin typeface="Montserrat"/>
              </a:rPr>
              <a:t>A sua maneira</a:t>
            </a:r>
          </a:p>
          <a:p>
            <a:pPr algn="l">
              <a:lnSpc>
                <a:spcPct val="95000"/>
              </a:lnSpc>
            </a:pPr>
            <a:r>
              <a:rPr sz="8100" b="1" spc="-150">
                <a:solidFill>
                  <a:srgbClr val="004380"/>
                </a:solidFill>
                <a:latin typeface="Montserrat"/>
              </a:rPr>
              <a:t>de educar</a:t>
            </a:r>
          </a:p>
          <a:p>
            <a:pPr algn="l">
              <a:lnSpc>
                <a:spcPct val="95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95000"/>
              </a:lnSpc>
            </a:pPr>
            <a:r>
              <a:rPr sz="8100" b="1" spc="-150">
                <a:solidFill>
                  <a:srgbClr val="0263BA"/>
                </a:solidFill>
                <a:latin typeface="Montserrat"/>
              </a:rPr>
              <a:t>impacta a vida</a:t>
            </a:r>
          </a:p>
          <a:p>
            <a:pPr algn="l">
              <a:lnSpc>
                <a:spcPct val="95000"/>
              </a:lnSpc>
            </a:pPr>
            <a:r>
              <a:rPr sz="8100" b="1" spc="-150">
                <a:solidFill>
                  <a:srgbClr val="0263BA"/>
                </a:solidFill>
                <a:latin typeface="Montserrat"/>
              </a:rPr>
              <a:t>do seu filho.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8183879"/>
            <a:ext cx="1463040" cy="109728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263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5080" y="2354580"/>
            <a:ext cx="5577840" cy="5577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-006-014.jpg"/>
          <p:cNvPicPr>
            <a:picLocks noChangeAspect="1"/>
          </p:cNvPicPr>
          <p:nvPr/>
        </p:nvPicPr>
        <p:blipFill>
          <a:blip r:embed="rId2"/>
          <a:srcRect l="10000" r="10000"/>
          <a:stretch>
            <a:fillRect/>
          </a:stretch>
        </p:blipFill>
        <p:spPr>
          <a:xfrm>
            <a:off x="6583680" y="2583180"/>
            <a:ext cx="5120640" cy="5120640"/>
          </a:xfrm>
          <a:prstGeom prst="ellipse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" y="10698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9144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FFFFFF"/>
                </a:solidFill>
                <a:latin typeface="Montserrat"/>
              </a:rPr>
              <a:t>PARTE 1 · PRESENÇA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576072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>
                <a:solidFill>
                  <a:srgbClr val="FFFFFF"/>
                </a:solidFill>
                <a:latin typeface="Montserrat"/>
              </a:rPr>
              <a:t>Nada é</a:t>
            </a:r>
          </a:p>
          <a:p>
            <a:pPr algn="l">
              <a:lnSpc>
                <a:spcPct val="95000"/>
              </a:lnSpc>
            </a:pPr>
            <a:r>
              <a:rPr sz="13000" b="1" spc="-200">
                <a:solidFill>
                  <a:srgbClr val="FFFFFF"/>
                </a:solidFill>
                <a:latin typeface="Montserrat"/>
              </a:rPr>
              <a:t>ruim</a:t>
            </a:r>
          </a:p>
          <a:p>
            <a:pPr algn="l">
              <a:lnSpc>
                <a:spcPct val="95000"/>
              </a:lnSpc>
            </a:pPr>
            <a:r>
              <a:rPr sz="5400" b="0">
                <a:solidFill>
                  <a:srgbClr val="FFFFFF"/>
                </a:solidFill>
                <a:latin typeface="Montserrat"/>
              </a:rPr>
              <a:t>totalmente.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2651760"/>
            <a:ext cx="5760720" cy="4937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5400" b="0">
                <a:solidFill>
                  <a:srgbClr val="036554"/>
                </a:solidFill>
                <a:latin typeface="Montserrat"/>
              </a:rPr>
              <a:t>Nada é</a:t>
            </a:r>
          </a:p>
          <a:p>
            <a:pPr algn="r">
              <a:lnSpc>
                <a:spcPct val="95000"/>
              </a:lnSpc>
            </a:pPr>
            <a:r>
              <a:rPr sz="13000" b="1" spc="-200">
                <a:solidFill>
                  <a:srgbClr val="036554"/>
                </a:solidFill>
                <a:latin typeface="Montserrat"/>
              </a:rPr>
              <a:t>bom</a:t>
            </a:r>
          </a:p>
          <a:p>
            <a:pPr algn="r">
              <a:lnSpc>
                <a:spcPct val="95000"/>
              </a:lnSpc>
            </a:pPr>
            <a:r>
              <a:rPr sz="5400" b="0">
                <a:solidFill>
                  <a:srgbClr val="036554"/>
                </a:solidFill>
                <a:latin typeface="Montserrat"/>
              </a:rPr>
              <a:t>totalmente.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07-015.jpg"/>
          <p:cNvPicPr>
            <a:picLocks noChangeAspect="1"/>
          </p:cNvPicPr>
          <p:nvPr/>
        </p:nvPicPr>
        <p:blipFill>
          <a:blip r:embed="rId2"/>
          <a:srcRect t="6353" b="63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>
                  <a:alpha val="92000"/>
                </a:srgbClr>
              </a:gs>
              <a:gs pos="50000">
                <a:srgbClr val="002B52">
                  <a:alpha val="55000"/>
                </a:srgbClr>
              </a:gs>
              <a:gs pos="75000">
                <a:srgbClr val="002B52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0698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9144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FFFFFF"/>
                </a:solidFill>
                <a:latin typeface="Montserrat"/>
              </a:rPr>
              <a:t>PARTE 1 · PRESENÇA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601200" cy="6400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0">
                <a:solidFill>
                  <a:srgbClr val="FFFFFF"/>
                </a:solidFill>
                <a:latin typeface="Montserrat"/>
              </a:rPr>
              <a:t>Eu quero que daqui a alguns anos</a:t>
            </a:r>
          </a:p>
          <a:p>
            <a:pPr algn="l">
              <a:lnSpc>
                <a:spcPct val="95000"/>
              </a:lnSpc>
            </a:pPr>
            <a:r>
              <a:rPr sz="4000" b="0">
                <a:solidFill>
                  <a:srgbClr val="FFFFFF"/>
                </a:solidFill>
                <a:latin typeface="Montserrat"/>
              </a:rPr>
              <a:t>você tenha um</a:t>
            </a:r>
          </a:p>
          <a:p>
            <a:pPr algn="l">
              <a:lnSpc>
                <a:spcPct val="95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95000"/>
              </a:lnSpc>
            </a:pPr>
            <a:r>
              <a:rPr sz="10500" b="1" spc="-250">
                <a:solidFill>
                  <a:srgbClr val="85C227"/>
                </a:solidFill>
                <a:latin typeface="Montserrat"/>
              </a:rPr>
              <a:t>filho</a:t>
            </a:r>
          </a:p>
          <a:p>
            <a:pPr algn="l">
              <a:lnSpc>
                <a:spcPct val="95000"/>
              </a:lnSpc>
            </a:pPr>
            <a:r>
              <a:rPr sz="10500" b="1" spc="-250">
                <a:solidFill>
                  <a:srgbClr val="85C227"/>
                </a:solidFill>
                <a:latin typeface="Montserrat"/>
              </a:rPr>
              <a:t>vencedor!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08-018.jpg"/>
          <p:cNvPicPr>
            <a:picLocks noChangeAspect="1"/>
          </p:cNvPicPr>
          <p:nvPr/>
        </p:nvPicPr>
        <p:blipFill>
          <a:blip r:embed="rId2"/>
          <a:srcRect l="12690" r="12690"/>
          <a:stretch>
            <a:fillRect/>
          </a:stretch>
        </p:blipFill>
        <p:spPr>
          <a:xfrm>
            <a:off x="6766560" y="0"/>
            <a:ext cx="11521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40000">
                <a:srgbClr val="FFFFFF">
                  <a:alpha val="95000"/>
                </a:srgbClr>
              </a:gs>
              <a:gs pos="58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1 · PRESENÇA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9144000" cy="457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800" b="1" spc="-150">
                <a:solidFill>
                  <a:srgbClr val="004380"/>
                </a:solidFill>
                <a:latin typeface="Montserrat"/>
              </a:rPr>
              <a:t>Mas para que</a:t>
            </a:r>
          </a:p>
          <a:p>
            <a:pPr algn="l">
              <a:lnSpc>
                <a:spcPct val="95000"/>
              </a:lnSpc>
            </a:pPr>
            <a:r>
              <a:rPr sz="7800" b="1" spc="-150">
                <a:solidFill>
                  <a:srgbClr val="004380"/>
                </a:solidFill>
                <a:latin typeface="Montserrat"/>
              </a:rPr>
              <a:t>isso aconteça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7040880"/>
            <a:ext cx="411480" cy="411480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83080" y="7040880"/>
            <a:ext cx="411480" cy="411480"/>
          </a:xfrm>
          <a:prstGeom prst="ellipse">
            <a:avLst/>
          </a:prstGeom>
          <a:solidFill>
            <a:srgbClr val="026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68880" y="7040880"/>
            <a:ext cx="411480" cy="411480"/>
          </a:xfrm>
          <a:prstGeom prst="ellipse">
            <a:avLst/>
          </a:prstGeom>
          <a:solidFill>
            <a:srgbClr val="036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09-021.jpg"/>
          <p:cNvPicPr>
            <a:picLocks noChangeAspect="1"/>
          </p:cNvPicPr>
          <p:nvPr/>
        </p:nvPicPr>
        <p:blipFill>
          <a:blip r:embed="rId2"/>
          <a:srcRect t="7667" b="7667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>
                  <a:alpha val="0"/>
                </a:srgbClr>
              </a:gs>
              <a:gs pos="60000">
                <a:srgbClr val="002B52">
                  <a:alpha val="10000"/>
                </a:srgbClr>
              </a:gs>
              <a:gs pos="100000">
                <a:srgbClr val="002B52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6903720"/>
            <a:ext cx="10424160" cy="2331720"/>
          </a:xfrm>
          <a:prstGeom prst="roundRect">
            <a:avLst>
              <a:gd name="adj" fmla="val 18000"/>
            </a:avLst>
          </a:prstGeom>
          <a:solidFill>
            <a:srgbClr val="00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742492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726948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2 · O FILTRO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7726679"/>
            <a:ext cx="96012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700" b="1" spc="-100">
                <a:solidFill>
                  <a:srgbClr val="FFFFFF"/>
                </a:solidFill>
                <a:latin typeface="Montserrat"/>
              </a:rPr>
              <a:t>A criança é </a:t>
            </a:r>
            <a:r>
              <a:rPr sz="5700" b="1" spc="-100">
                <a:solidFill>
                  <a:srgbClr val="85C227"/>
                </a:solidFill>
                <a:latin typeface="Montserrat"/>
              </a:rPr>
              <a:t>esponja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2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10-02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0" y="-1280160"/>
            <a:ext cx="12801600" cy="1280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2060C"/>
              </a:gs>
              <a:gs pos="36000">
                <a:srgbClr val="02060C"/>
              </a:gs>
              <a:gs pos="55000">
                <a:srgbClr val="02060C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2 · O FILTRO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822960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0800" b="1" spc="-200">
                <a:solidFill>
                  <a:srgbClr val="FFFFFF"/>
                </a:solidFill>
                <a:latin typeface="Montserrat"/>
              </a:rPr>
              <a:t>Tudo fica</a:t>
            </a:r>
          </a:p>
          <a:p>
            <a:pPr algn="l">
              <a:lnSpc>
                <a:spcPct val="92000"/>
              </a:lnSpc>
            </a:pPr>
            <a:r>
              <a:rPr sz="10800" b="1" spc="-200">
                <a:solidFill>
                  <a:srgbClr val="85C227"/>
                </a:solidFill>
                <a:latin typeface="Montserrat"/>
              </a:rPr>
              <a:t>registrado.</a:t>
            </a:r>
          </a:p>
        </p:txBody>
      </p:sp>
      <p:pic>
        <p:nvPicPr>
          <p:cNvPr id="8" name="Picture 7" descr="logo_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dge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097280"/>
            <a:ext cx="7680960" cy="7598546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201400" y="2057400"/>
            <a:ext cx="5760720" cy="5715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-011-028.jpg"/>
          <p:cNvPicPr>
            <a:picLocks noChangeAspect="1"/>
          </p:cNvPicPr>
          <p:nvPr/>
        </p:nvPicPr>
        <p:blipFill>
          <a:blip r:embed="rId3"/>
          <a:srcRect l="16340" r="16340"/>
          <a:stretch>
            <a:fillRect/>
          </a:stretch>
        </p:blipFill>
        <p:spPr>
          <a:xfrm>
            <a:off x="11384280" y="2240280"/>
            <a:ext cx="5394960" cy="5349240"/>
          </a:xfrm>
          <a:prstGeom prst="ellipse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2 · O FILTRO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39" y="155448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200" b="1">
                <a:solidFill>
                  <a:srgbClr val="85C227"/>
                </a:solidFill>
                <a:latin typeface="Montserrat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896112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100">
                <a:solidFill>
                  <a:srgbClr val="004380"/>
                </a:solidFill>
                <a:latin typeface="Montserrat"/>
              </a:rPr>
              <a:t>Os pais precisam ser</a:t>
            </a:r>
          </a:p>
          <a:p>
            <a:pPr algn="l">
              <a:lnSpc>
                <a:spcPct val="100000"/>
              </a:lnSpc>
            </a:pPr>
            <a:r>
              <a:rPr sz="8100" b="1" spc="-150">
                <a:solidFill>
                  <a:srgbClr val="0263BA"/>
                </a:solidFill>
                <a:latin typeface="Montserrat"/>
              </a:rPr>
              <a:t>filtros da</a:t>
            </a:r>
          </a:p>
          <a:p>
            <a:pPr algn="l">
              <a:lnSpc>
                <a:spcPct val="100000"/>
              </a:lnSpc>
            </a:pPr>
            <a:r>
              <a:rPr sz="8100" b="1" spc="-150">
                <a:solidFill>
                  <a:srgbClr val="0263BA"/>
                </a:solidFill>
                <a:latin typeface="Montserrat"/>
              </a:rPr>
              <a:t>realidade,</a:t>
            </a:r>
          </a:p>
          <a:p>
            <a:pPr algn="l">
              <a:lnSpc>
                <a:spcPct val="100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3800" b="0">
                <a:solidFill>
                  <a:srgbClr val="2D5C58"/>
                </a:solidFill>
                <a:latin typeface="Montserrat"/>
              </a:rPr>
              <a:t>porque a criança é esponja</a:t>
            </a:r>
          </a:p>
          <a:p>
            <a:pPr algn="l">
              <a:lnSpc>
                <a:spcPct val="100000"/>
              </a:lnSpc>
            </a:pPr>
            <a:r>
              <a:rPr sz="3800" b="0">
                <a:solidFill>
                  <a:srgbClr val="2D5C58"/>
                </a:solidFill>
                <a:latin typeface="Montserrat"/>
              </a:rPr>
              <a:t>e a esponja só absorve.</a:t>
            </a:r>
          </a:p>
        </p:txBody>
      </p:sp>
      <p:pic>
        <p:nvPicPr>
          <p:cNvPr id="10" name="Picture 9" descr="logo_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/>
              </a:gs>
              <a:gs pos="100000">
                <a:srgbClr val="0263BA"/>
              </a:gs>
            </a:gsLst>
            <a:lin ang="1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0698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65960" y="9144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2 · O FILTRO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609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500" b="1" spc="-100">
                <a:solidFill>
                  <a:srgbClr val="FFFFFF"/>
                </a:solidFill>
                <a:latin typeface="Montserrat"/>
              </a:rPr>
              <a:t>Nossos filhos estão sendo criados</a:t>
            </a:r>
          </a:p>
          <a:p>
            <a:pPr algn="l">
              <a:lnSpc>
                <a:spcPct val="98000"/>
              </a:lnSpc>
            </a:pPr>
            <a:r>
              <a:rPr sz="6500" b="1" spc="-100">
                <a:solidFill>
                  <a:srgbClr val="FFFFFF"/>
                </a:solidFill>
                <a:latin typeface="Montserrat"/>
              </a:rPr>
              <a:t>com os </a:t>
            </a:r>
            <a:r>
              <a:rPr sz="6500" b="1" spc="-100">
                <a:solidFill>
                  <a:srgbClr val="85C227"/>
                </a:solidFill>
                <a:latin typeface="Montserrat"/>
              </a:rPr>
              <a:t>valores que consomem…</a:t>
            </a:r>
          </a:p>
        </p:txBody>
      </p:sp>
      <p:sp>
        <p:nvSpPr>
          <p:cNvPr id="6" name="Oval 5"/>
          <p:cNvSpPr/>
          <p:nvPr/>
        </p:nvSpPr>
        <p:spPr>
          <a:xfrm>
            <a:off x="1325879" y="3977639"/>
            <a:ext cx="4480560" cy="4480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x-012-031.jpg"/>
          <p:cNvPicPr>
            <a:picLocks noChangeAspect="1"/>
          </p:cNvPicPr>
          <p:nvPr/>
        </p:nvPicPr>
        <p:blipFill>
          <a:blip r:embed="rId2"/>
          <a:srcRect l="21875" r="21875"/>
          <a:stretch>
            <a:fillRect/>
          </a:stretch>
        </p:blipFill>
        <p:spPr>
          <a:xfrm>
            <a:off x="1508760" y="4160520"/>
            <a:ext cx="4114800" cy="4114800"/>
          </a:xfrm>
          <a:prstGeom prst="ellipse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51560" y="8229600"/>
            <a:ext cx="5029200" cy="731520"/>
          </a:xfrm>
          <a:prstGeom prst="roundRect">
            <a:avLst>
              <a:gd name="adj" fmla="val 50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8229600"/>
            <a:ext cx="5029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spc="100">
                <a:solidFill>
                  <a:srgbClr val="002B52"/>
                </a:solidFill>
                <a:latin typeface="Montserrat"/>
              </a:rPr>
              <a:t>YOUTUBERS</a:t>
            </a:r>
          </a:p>
        </p:txBody>
      </p:sp>
      <p:sp>
        <p:nvSpPr>
          <p:cNvPr id="10" name="Oval 9"/>
          <p:cNvSpPr/>
          <p:nvPr/>
        </p:nvSpPr>
        <p:spPr>
          <a:xfrm>
            <a:off x="6903720" y="3977639"/>
            <a:ext cx="4480560" cy="4480560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x-012-032.jpg"/>
          <p:cNvPicPr>
            <a:picLocks noChangeAspect="1"/>
          </p:cNvPicPr>
          <p:nvPr/>
        </p:nvPicPr>
        <p:blipFill>
          <a:blip r:embed="rId3"/>
          <a:srcRect l="16656" r="16656"/>
          <a:stretch>
            <a:fillRect/>
          </a:stretch>
        </p:blipFill>
        <p:spPr>
          <a:xfrm>
            <a:off x="7086600" y="4160520"/>
            <a:ext cx="4114800" cy="4114800"/>
          </a:xfrm>
          <a:prstGeom prst="ellipse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629400" y="8229600"/>
            <a:ext cx="502920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8229600"/>
            <a:ext cx="5029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spc="100">
                <a:solidFill>
                  <a:srgbClr val="002B52"/>
                </a:solidFill>
                <a:latin typeface="Montserrat"/>
              </a:rPr>
              <a:t>REDES SOCIAIS E CELULAR</a:t>
            </a:r>
          </a:p>
        </p:txBody>
      </p:sp>
      <p:sp>
        <p:nvSpPr>
          <p:cNvPr id="14" name="Oval 13"/>
          <p:cNvSpPr/>
          <p:nvPr/>
        </p:nvSpPr>
        <p:spPr>
          <a:xfrm>
            <a:off x="12481559" y="3977639"/>
            <a:ext cx="4480560" cy="4480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x-012-033.jpg"/>
          <p:cNvPicPr>
            <a:picLocks noChangeAspect="1"/>
          </p:cNvPicPr>
          <p:nvPr/>
        </p:nvPicPr>
        <p:blipFill>
          <a:blip r:embed="rId4"/>
          <a:srcRect l="16656" r="16656"/>
          <a:stretch>
            <a:fillRect/>
          </a:stretch>
        </p:blipFill>
        <p:spPr>
          <a:xfrm>
            <a:off x="12664439" y="4160520"/>
            <a:ext cx="4114800" cy="4114800"/>
          </a:xfrm>
          <a:prstGeom prst="ellipse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2207239" y="8229600"/>
            <a:ext cx="5029200" cy="731520"/>
          </a:xfrm>
          <a:prstGeom prst="roundRect">
            <a:avLst>
              <a:gd name="adj" fmla="val 50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07239" y="8229600"/>
            <a:ext cx="5029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spc="100">
                <a:solidFill>
                  <a:srgbClr val="002B52"/>
                </a:solidFill>
                <a:latin typeface="Montserrat"/>
              </a:rPr>
              <a:t>GAMES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13-036.jpg"/>
          <p:cNvPicPr>
            <a:picLocks noChangeAspect="1"/>
          </p:cNvPicPr>
          <p:nvPr/>
        </p:nvPicPr>
        <p:blipFill>
          <a:blip r:embed="rId2"/>
          <a:srcRect t="6606" b="660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Picture 3" descr="badge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0" y="64008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14-039.jpg"/>
          <p:cNvPicPr>
            <a:picLocks noChangeAspect="1"/>
          </p:cNvPicPr>
          <p:nvPr/>
        </p:nvPicPr>
        <p:blipFill>
          <a:blip r:embed="rId2"/>
          <a:srcRect t="7826" b="782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>
                  <a:alpha val="55000"/>
                </a:srgbClr>
              </a:gs>
              <a:gs pos="100000">
                <a:srgbClr val="002B52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0" y="2194560"/>
            <a:ext cx="4389120" cy="685800"/>
          </a:xfrm>
          <a:prstGeom prst="roundRect">
            <a:avLst>
              <a:gd name="adj" fmla="val 50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2194560"/>
            <a:ext cx="4389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spc="300">
                <a:solidFill>
                  <a:srgbClr val="002B52"/>
                </a:solidFill>
                <a:latin typeface="Montserrat"/>
              </a:rPr>
              <a:t>PARA REFLETIR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6459200" cy="4389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4800" b="1" spc="-250">
                <a:solidFill>
                  <a:srgbClr val="FFFFFF"/>
                </a:solidFill>
                <a:latin typeface="Montserrat"/>
              </a:rPr>
              <a:t>Qual é a</a:t>
            </a:r>
          </a:p>
          <a:p>
            <a:pPr algn="ctr">
              <a:lnSpc>
                <a:spcPct val="90000"/>
              </a:lnSpc>
            </a:pPr>
            <a:r>
              <a:rPr sz="14800" b="1" spc="-250">
                <a:solidFill>
                  <a:srgbClr val="85C227"/>
                </a:solidFill>
                <a:latin typeface="Montserrat"/>
              </a:rPr>
              <a:t>sua lente?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9BD13A"/>
              </a:gs>
              <a:gs pos="100000">
                <a:srgbClr val="69B21C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52560" y="-822960"/>
            <a:ext cx="12070080" cy="1207008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95560" y="1280160"/>
            <a:ext cx="7772400" cy="777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-015-042.jpg"/>
          <p:cNvPicPr>
            <a:picLocks noChangeAspect="1"/>
          </p:cNvPicPr>
          <p:nvPr/>
        </p:nvPicPr>
        <p:blipFill>
          <a:blip r:embed="rId2"/>
          <a:srcRect l="15687" r="15687"/>
          <a:stretch>
            <a:fillRect/>
          </a:stretch>
        </p:blipFill>
        <p:spPr>
          <a:xfrm>
            <a:off x="10469880" y="1554480"/>
            <a:ext cx="7223760" cy="7223760"/>
          </a:xfrm>
          <a:prstGeom prst="ellipse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004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004380"/>
                </a:solidFill>
                <a:latin typeface="Montserrat"/>
              </a:rPr>
              <a:t>PARTE 2 · O FILTRO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9144000" cy="6035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0800" b="0" spc="-150">
                <a:solidFill>
                  <a:srgbClr val="004380"/>
                </a:solidFill>
                <a:latin typeface="Montserrat"/>
              </a:rPr>
              <a:t>Você é</a:t>
            </a:r>
          </a:p>
          <a:p>
            <a:pPr algn="l">
              <a:lnSpc>
                <a:spcPct val="90000"/>
              </a:lnSpc>
            </a:pPr>
            <a:r>
              <a:rPr sz="16200" b="1" spc="-300">
                <a:solidFill>
                  <a:srgbClr val="004380"/>
                </a:solidFill>
                <a:latin typeface="Montserrat"/>
              </a:rPr>
              <a:t>o filtro!</a:t>
            </a:r>
          </a:p>
        </p:txBody>
      </p:sp>
      <p:pic>
        <p:nvPicPr>
          <p:cNvPr id="9" name="Picture 8" descr="logo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2377440"/>
            <a:ext cx="7132320" cy="7132320"/>
          </a:xfrm>
          <a:prstGeom prst="ellipse">
            <a:avLst/>
          </a:prstGeom>
          <a:solidFill>
            <a:srgbClr val="24A2F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016-045.jpg"/>
          <p:cNvPicPr>
            <a:picLocks noChangeAspect="1"/>
          </p:cNvPicPr>
          <p:nvPr/>
        </p:nvPicPr>
        <p:blipFill>
          <a:blip r:embed="rId2"/>
          <a:srcRect t="4413" b="4413"/>
          <a:stretch>
            <a:fillRect/>
          </a:stretch>
        </p:blipFill>
        <p:spPr>
          <a:xfrm>
            <a:off x="11430000" y="1143000"/>
            <a:ext cx="5852160" cy="8001000"/>
          </a:xfrm>
          <a:prstGeom prst="round2SameRect">
            <a:avLst>
              <a:gd name="adj1" fmla="val 50000"/>
              <a:gd name="adj2" fmla="val 0"/>
            </a:avLst>
          </a:prstGeom>
        </p:spPr>
      </p:pic>
      <p:sp>
        <p:nvSpPr>
          <p:cNvPr id="5" name="Rectangle 4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2 · O FILTRO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95097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500" b="1" spc="-50">
                <a:solidFill>
                  <a:srgbClr val="004380"/>
                </a:solidFill>
                <a:latin typeface="Montserrat"/>
              </a:rPr>
              <a:t>Você trabalha, trabalha, trabalha…</a:t>
            </a:r>
          </a:p>
          <a:p>
            <a:pPr algn="l">
              <a:lnSpc>
                <a:spcPct val="105000"/>
              </a:lnSpc>
            </a:pPr>
            <a:r>
              <a:rPr sz="2800" b="0">
                <a:solidFill>
                  <a:srgbClr val="2D5C58"/>
                </a:solidFill>
                <a:latin typeface="Montserrat"/>
              </a:rPr>
              <a:t>Quer dar o melhor, sonha em levar pra Disney…</a:t>
            </a:r>
          </a:p>
          <a:p>
            <a:pPr algn="l">
              <a:lnSpc>
                <a:spcPct val="105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3500" b="1">
                <a:solidFill>
                  <a:srgbClr val="0263BA"/>
                </a:solidFill>
                <a:latin typeface="Montserrat"/>
              </a:rPr>
              <a:t>Mas…</a:t>
            </a:r>
          </a:p>
          <a:p>
            <a:pPr algn="l">
              <a:lnSpc>
                <a:spcPct val="105000"/>
              </a:lnSpc>
            </a:pPr>
            <a:r>
              <a:rPr sz="3500" b="1">
                <a:solidFill>
                  <a:srgbClr val="0263BA"/>
                </a:solidFill>
                <a:latin typeface="Montserrat"/>
              </a:rPr>
              <a:t>Quem está em casa ensinando</a:t>
            </a:r>
          </a:p>
          <a:p>
            <a:pPr algn="l">
              <a:lnSpc>
                <a:spcPct val="105000"/>
              </a:lnSpc>
            </a:pPr>
            <a:r>
              <a:rPr sz="3500" b="1">
                <a:solidFill>
                  <a:srgbClr val="0263BA"/>
                </a:solidFill>
                <a:latin typeface="Montserrat"/>
              </a:rPr>
              <a:t>o que é certo e errado?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6583680"/>
            <a:ext cx="9326880" cy="1920240"/>
          </a:xfrm>
          <a:prstGeom prst="roundRect">
            <a:avLst>
              <a:gd name="adj" fmla="val 20000"/>
            </a:avLst>
          </a:prstGeom>
          <a:solidFill>
            <a:srgbClr val="004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6583680"/>
            <a:ext cx="256032" cy="1920240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6583680"/>
            <a:ext cx="85039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spc="-100">
                <a:solidFill>
                  <a:srgbClr val="FFFFFF"/>
                </a:solidFill>
                <a:latin typeface="Montserrat"/>
              </a:rPr>
              <a:t>Presente </a:t>
            </a:r>
            <a:r>
              <a:rPr sz="4600" b="0" spc="-100">
                <a:solidFill>
                  <a:srgbClr val="FFFFFF"/>
                </a:solidFill>
                <a:latin typeface="Montserrat"/>
              </a:rPr>
              <a:t>não substitui</a:t>
            </a:r>
          </a:p>
          <a:p>
            <a:pPr algn="l">
              <a:lnSpc>
                <a:spcPct val="95000"/>
              </a:lnSpc>
            </a:pPr>
            <a:r>
              <a:rPr sz="5400" b="1" spc="-100">
                <a:solidFill>
                  <a:srgbClr val="85C227"/>
                </a:solidFill>
                <a:latin typeface="Montserrat"/>
              </a:rPr>
              <a:t>presença!</a:t>
            </a:r>
          </a:p>
        </p:txBody>
      </p:sp>
      <p:pic>
        <p:nvPicPr>
          <p:cNvPr id="11" name="Picture 10" descr="logo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36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548640"/>
            <a:ext cx="8595360" cy="896112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60" y="491"/>
                </a:moveTo>
                <a:cubicBezTo>
                  <a:pt x="964" y="602"/>
                  <a:pt x="897" y="760"/>
                  <a:pt x="801" y="838"/>
                </a:cubicBezTo>
                <a:cubicBezTo>
                  <a:pt x="705" y="916"/>
                  <a:pt x="500" y="988"/>
                  <a:pt x="382" y="960"/>
                </a:cubicBezTo>
                <a:cubicBezTo>
                  <a:pt x="265" y="932"/>
                  <a:pt x="153" y="781"/>
                  <a:pt x="96" y="669"/>
                </a:cubicBezTo>
                <a:cubicBezTo>
                  <a:pt x="39" y="557"/>
                  <a:pt x="0" y="393"/>
                  <a:pt x="40" y="288"/>
                </a:cubicBezTo>
                <a:cubicBezTo>
                  <a:pt x="88" y="183"/>
                  <a:pt x="264" y="60"/>
                  <a:pt x="387" y="40"/>
                </a:cubicBezTo>
                <a:cubicBezTo>
                  <a:pt x="510" y="20"/>
                  <a:pt x="684" y="93"/>
                  <a:pt x="779" y="169"/>
                </a:cubicBezTo>
                <a:cubicBezTo>
                  <a:pt x="875" y="244"/>
                  <a:pt x="956" y="379"/>
                  <a:pt x="960" y="491"/>
                </a:cubicBezTo>
                <a:close/>
              </a:path>
            </a:pathLst>
          </a:custGeom>
          <a:solidFill>
            <a:srgbClr val="026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017-050.jpg"/>
          <p:cNvPicPr>
            <a:picLocks noChangeAspect="1"/>
          </p:cNvPicPr>
          <p:nvPr/>
        </p:nvPicPr>
        <p:blipFill>
          <a:blip r:embed="rId2"/>
          <a:srcRect l="18138" r="18138"/>
          <a:stretch>
            <a:fillRect/>
          </a:stretch>
        </p:blipFill>
        <p:spPr>
          <a:xfrm>
            <a:off x="9875520" y="914400"/>
            <a:ext cx="7863840" cy="82296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60" y="501"/>
                </a:moveTo>
                <a:cubicBezTo>
                  <a:pt x="960" y="645"/>
                  <a:pt x="903" y="856"/>
                  <a:pt x="808" y="933"/>
                </a:cubicBezTo>
                <a:cubicBezTo>
                  <a:pt x="713" y="1000"/>
                  <a:pt x="519" y="993"/>
                  <a:pt x="391" y="960"/>
                </a:cubicBezTo>
                <a:cubicBezTo>
                  <a:pt x="263" y="927"/>
                  <a:pt x="98" y="848"/>
                  <a:pt x="40" y="733"/>
                </a:cubicBezTo>
                <a:cubicBezTo>
                  <a:pt x="0" y="618"/>
                  <a:pt x="0" y="386"/>
                  <a:pt x="44" y="270"/>
                </a:cubicBezTo>
                <a:cubicBezTo>
                  <a:pt x="102" y="155"/>
                  <a:pt x="263" y="74"/>
                  <a:pt x="390" y="40"/>
                </a:cubicBezTo>
                <a:cubicBezTo>
                  <a:pt x="518" y="6"/>
                  <a:pt x="714" y="0"/>
                  <a:pt x="809" y="67"/>
                </a:cubicBezTo>
                <a:cubicBezTo>
                  <a:pt x="904" y="143"/>
                  <a:pt x="960" y="356"/>
                  <a:pt x="960" y="501"/>
                </a:cubicBezTo>
                <a:close/>
              </a:path>
            </a:pathLst>
          </a:custGeom>
        </p:spPr>
      </p:pic>
      <p:sp>
        <p:nvSpPr>
          <p:cNvPr id="5" name="Rectangle 4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2 · O FILTRO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8229600" cy="6949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100">
                <a:solidFill>
                  <a:srgbClr val="FFFFFF"/>
                </a:solidFill>
                <a:latin typeface="Montserrat"/>
              </a:rPr>
              <a:t>Aí você chega em casa e dá o celular para ter paz…</a:t>
            </a:r>
          </a:p>
          <a:p>
            <a:pPr algn="l">
              <a:lnSpc>
                <a:spcPct val="100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4000" b="0">
                <a:solidFill>
                  <a:srgbClr val="CFE6DE"/>
                </a:solidFill>
                <a:latin typeface="Montserrat"/>
              </a:rPr>
              <a:t>e nessa você perde a oportunidade de ensinar valores.</a:t>
            </a:r>
          </a:p>
          <a:p>
            <a:pPr algn="l">
              <a:lnSpc>
                <a:spcPct val="100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7300" b="1" spc="-150">
                <a:solidFill>
                  <a:srgbClr val="85C227"/>
                </a:solidFill>
                <a:latin typeface="Montserrat"/>
              </a:rPr>
              <a:t>De se fazer</a:t>
            </a:r>
          </a:p>
          <a:p>
            <a:pPr algn="l">
              <a:lnSpc>
                <a:spcPct val="100000"/>
              </a:lnSpc>
            </a:pPr>
            <a:r>
              <a:rPr sz="7300" b="1" spc="-150">
                <a:solidFill>
                  <a:srgbClr val="85C227"/>
                </a:solidFill>
                <a:latin typeface="Montserrat"/>
              </a:rPr>
              <a:t>presente!</a:t>
            </a:r>
          </a:p>
        </p:txBody>
      </p:sp>
      <p:pic>
        <p:nvPicPr>
          <p:cNvPr id="8" name="Picture 7" descr="logo_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9235440"/>
            <a:ext cx="1569746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dge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0" y="5852160"/>
            <a:ext cx="5852160" cy="5789368"/>
          </a:xfrm>
          <a:prstGeom prst="rect">
            <a:avLst/>
          </a:prstGeom>
        </p:spPr>
      </p:pic>
      <p:pic>
        <p:nvPicPr>
          <p:cNvPr id="4" name="Picture 3" descr="x-018-051.jpg"/>
          <p:cNvPicPr>
            <a:picLocks noChangeAspect="1"/>
          </p:cNvPicPr>
          <p:nvPr/>
        </p:nvPicPr>
        <p:blipFill>
          <a:blip r:embed="rId3"/>
          <a:srcRect t="536" b="536"/>
          <a:stretch>
            <a:fillRect/>
          </a:stretch>
        </p:blipFill>
        <p:spPr>
          <a:xfrm>
            <a:off x="1097280" y="1143000"/>
            <a:ext cx="6035040" cy="8961120"/>
          </a:xfrm>
          <a:prstGeom prst="round2SameRect">
            <a:avLst>
              <a:gd name="adj1" fmla="val 50000"/>
              <a:gd name="adj2" fmla="val 0"/>
            </a:avLst>
          </a:prstGeom>
        </p:spPr>
      </p:pic>
      <p:sp>
        <p:nvSpPr>
          <p:cNvPr id="5" name="Rectangle 4"/>
          <p:cNvSpPr/>
          <p:nvPr/>
        </p:nvSpPr>
        <p:spPr>
          <a:xfrm>
            <a:off x="850392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7260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2 · O FILTRO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920240"/>
            <a:ext cx="914400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0800" b="1" spc="-200">
                <a:solidFill>
                  <a:srgbClr val="004380"/>
                </a:solidFill>
                <a:latin typeface="Montserrat"/>
              </a:rPr>
              <a:t>Construa</a:t>
            </a:r>
          </a:p>
          <a:p>
            <a:pPr algn="l">
              <a:lnSpc>
                <a:spcPct val="95000"/>
              </a:lnSpc>
            </a:pPr>
            <a:r>
              <a:rPr sz="7300" b="0" spc="-100">
                <a:solidFill>
                  <a:srgbClr val="004380"/>
                </a:solidFill>
                <a:latin typeface="Montserrat"/>
              </a:rPr>
              <a:t>seu filho com</a:t>
            </a:r>
          </a:p>
          <a:p>
            <a:pPr algn="l">
              <a:lnSpc>
                <a:spcPct val="95000"/>
              </a:lnSpc>
            </a:pPr>
            <a:r>
              <a:rPr sz="6200" b="1" spc="-150">
                <a:solidFill>
                  <a:srgbClr val="0263BA"/>
                </a:solidFill>
                <a:latin typeface="Montserrat"/>
              </a:rPr>
              <a:t>intencionalidade!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7315200"/>
            <a:ext cx="1463040" cy="109728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/>
              </a:gs>
              <a:gs pos="100000">
                <a:srgbClr val="036554"/>
              </a:gs>
            </a:gsLst>
            <a:lin ang="72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640080"/>
            <a:ext cx="5486400" cy="5486400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019-055.jpg"/>
          <p:cNvPicPr>
            <a:picLocks noChangeAspect="1"/>
          </p:cNvPicPr>
          <p:nvPr/>
        </p:nvPicPr>
        <p:blipFill>
          <a:blip r:embed="rId2"/>
          <a:srcRect l="16656" r="16656"/>
          <a:stretch>
            <a:fillRect/>
          </a:stretch>
        </p:blipFill>
        <p:spPr>
          <a:xfrm>
            <a:off x="11338560" y="822960"/>
            <a:ext cx="5120640" cy="5120640"/>
          </a:xfrm>
          <a:prstGeom prst="ellipse">
            <a:avLst/>
          </a:prstGeom>
        </p:spPr>
      </p:pic>
      <p:sp>
        <p:nvSpPr>
          <p:cNvPr id="5" name="Oval 4"/>
          <p:cNvSpPr/>
          <p:nvPr/>
        </p:nvSpPr>
        <p:spPr>
          <a:xfrm>
            <a:off x="13350240" y="4572000"/>
            <a:ext cx="4572000" cy="4572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x-019-054.jpg"/>
          <p:cNvPicPr>
            <a:picLocks noChangeAspect="1"/>
          </p:cNvPicPr>
          <p:nvPr/>
        </p:nvPicPr>
        <p:blipFill>
          <a:blip r:embed="rId3"/>
          <a:srcRect l="16656" r="16656"/>
          <a:stretch>
            <a:fillRect/>
          </a:stretch>
        </p:blipFill>
        <p:spPr>
          <a:xfrm>
            <a:off x="13533120" y="4754880"/>
            <a:ext cx="4206240" cy="4206240"/>
          </a:xfrm>
          <a:prstGeom prst="ellipse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3 · LIMITES E ROTINA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spc="-100">
                <a:solidFill>
                  <a:srgbClr val="FFFFFF"/>
                </a:solidFill>
                <a:latin typeface="Montserrat"/>
              </a:rPr>
              <a:t>LIMITES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92040"/>
            <a:ext cx="8229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800" b="0" spc="-100">
                <a:solidFill>
                  <a:srgbClr val="85C227"/>
                </a:solidFill>
                <a:latin typeface="Montserrat"/>
              </a:rPr>
              <a:t>Afasta ou</a:t>
            </a:r>
          </a:p>
          <a:p>
            <a:pPr algn="l">
              <a:lnSpc>
                <a:spcPct val="95000"/>
              </a:lnSpc>
            </a:pPr>
            <a:r>
              <a:rPr sz="7800" b="1" spc="-100">
                <a:solidFill>
                  <a:srgbClr val="85C227"/>
                </a:solidFill>
                <a:latin typeface="Montserrat"/>
              </a:rPr>
              <a:t>aproxima?</a:t>
            </a:r>
          </a:p>
        </p:txBody>
      </p:sp>
      <p:pic>
        <p:nvPicPr>
          <p:cNvPr id="11" name="Picture 10" descr="s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" y="7223760"/>
            <a:ext cx="29260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dge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365760"/>
            <a:ext cx="6217920" cy="6151204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2390120" y="1234440"/>
            <a:ext cx="4480560" cy="4434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-020-060.jpg"/>
          <p:cNvPicPr>
            <a:picLocks noChangeAspect="1"/>
          </p:cNvPicPr>
          <p:nvPr/>
        </p:nvPicPr>
        <p:blipFill>
          <a:blip r:embed="rId3"/>
          <a:srcRect l="16345" r="16345"/>
          <a:stretch>
            <a:fillRect/>
          </a:stretch>
        </p:blipFill>
        <p:spPr>
          <a:xfrm>
            <a:off x="12573000" y="1417320"/>
            <a:ext cx="4114800" cy="4069080"/>
          </a:xfrm>
          <a:prstGeom prst="ellipse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3 · LIMITES E ROTINA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10058400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spc="-250">
                <a:solidFill>
                  <a:srgbClr val="004380"/>
                </a:solidFill>
                <a:latin typeface="Montserrat"/>
              </a:rPr>
              <a:t>Limite é…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6263640"/>
            <a:ext cx="5166360" cy="2468880"/>
          </a:xfrm>
          <a:prstGeom prst="roundRect">
            <a:avLst>
              <a:gd name="adj" fmla="val 16000"/>
            </a:avLst>
          </a:prstGeom>
          <a:solidFill>
            <a:srgbClr val="026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65379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spc="20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7086600"/>
            <a:ext cx="4572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 spc="-100">
                <a:solidFill>
                  <a:srgbClr val="FFFFFF"/>
                </a:solidFill>
                <a:latin typeface="Montserrat"/>
              </a:rPr>
              <a:t>cuidado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6263640"/>
            <a:ext cx="5166360" cy="2468880"/>
          </a:xfrm>
          <a:prstGeom prst="roundRect">
            <a:avLst>
              <a:gd name="adj" fmla="val 16000"/>
            </a:avLst>
          </a:prstGeom>
          <a:solidFill>
            <a:srgbClr val="036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65379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spc="20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7086600"/>
            <a:ext cx="4572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 spc="-100">
                <a:solidFill>
                  <a:srgbClr val="FFFFFF"/>
                </a:solidFill>
                <a:latin typeface="Montserrat"/>
              </a:rPr>
              <a:t>segurança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978640" y="6263640"/>
            <a:ext cx="5166360" cy="2468880"/>
          </a:xfrm>
          <a:prstGeom prst="roundRect">
            <a:avLst>
              <a:gd name="adj" fmla="val 16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90119" y="65379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spc="200">
                <a:solidFill>
                  <a:srgbClr val="004380"/>
                </a:solidFill>
                <a:latin typeface="Montserrat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90119" y="7086600"/>
            <a:ext cx="4572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 spc="-100">
                <a:solidFill>
                  <a:srgbClr val="004380"/>
                </a:solidFill>
                <a:latin typeface="Montserrat"/>
              </a:rPr>
              <a:t>amor que ensina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2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914400"/>
            <a:ext cx="7498079" cy="74980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021-063.jpg"/>
          <p:cNvPicPr>
            <a:picLocks noChangeAspect="1"/>
          </p:cNvPicPr>
          <p:nvPr/>
        </p:nvPicPr>
        <p:blipFill>
          <a:blip r:embed="rId2"/>
          <a:srcRect l="16656" r="16656"/>
          <a:stretch>
            <a:fillRect/>
          </a:stretch>
        </p:blipFill>
        <p:spPr>
          <a:xfrm>
            <a:off x="777240" y="1143000"/>
            <a:ext cx="7040880" cy="7040880"/>
          </a:xfrm>
          <a:prstGeom prst="ellipse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03520" y="5120640"/>
            <a:ext cx="4572000" cy="4572000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x-021-064.jpg"/>
          <p:cNvPicPr>
            <a:picLocks noChangeAspect="1"/>
          </p:cNvPicPr>
          <p:nvPr/>
        </p:nvPicPr>
        <p:blipFill>
          <a:blip r:embed="rId3"/>
          <a:srcRect l="16625" r="16625"/>
          <a:stretch>
            <a:fillRect/>
          </a:stretch>
        </p:blipFill>
        <p:spPr>
          <a:xfrm>
            <a:off x="5532120" y="5349240"/>
            <a:ext cx="4114800" cy="4114800"/>
          </a:xfrm>
          <a:prstGeom prst="ellipse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78992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5860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PARTE 3 · LIMITES E ROTINA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2011680"/>
            <a:ext cx="7132320" cy="3840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spc="-100">
                <a:solidFill>
                  <a:srgbClr val="004380"/>
                </a:solidFill>
                <a:latin typeface="Montserrat"/>
              </a:rPr>
              <a:t>Nosso dia a dia</a:t>
            </a:r>
          </a:p>
          <a:p>
            <a:pPr algn="l">
              <a:lnSpc>
                <a:spcPct val="100000"/>
              </a:lnSpc>
            </a:pPr>
            <a:r>
              <a:rPr sz="6200" b="0" spc="-100">
                <a:solidFill>
                  <a:srgbClr val="004380"/>
                </a:solidFill>
                <a:latin typeface="Montserrat"/>
              </a:rPr>
              <a:t>está cada vez mais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5943600"/>
            <a:ext cx="7315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700" b="1" spc="-200">
                <a:solidFill>
                  <a:srgbClr val="0263BA"/>
                </a:solidFill>
                <a:latin typeface="Montserrat"/>
              </a:rPr>
              <a:t>acelerado!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0" y="7543800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789920" y="7927848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026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789920" y="8311896"/>
            <a:ext cx="1188720" cy="146304"/>
          </a:xfrm>
          <a:prstGeom prst="roundRect">
            <a:avLst>
              <a:gd name="adj" fmla="val 50000"/>
            </a:avLst>
          </a:prstGeom>
          <a:solidFill>
            <a:srgbClr val="24A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22-067.jpg"/>
          <p:cNvPicPr>
            <a:picLocks noChangeAspect="1"/>
          </p:cNvPicPr>
          <p:nvPr/>
        </p:nvPicPr>
        <p:blipFill>
          <a:blip r:embed="rId2"/>
          <a:srcRect t="7826" b="782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>
                  <a:alpha val="95000"/>
                </a:srgbClr>
              </a:gs>
              <a:gs pos="48000">
                <a:srgbClr val="002B52">
                  <a:alpha val="75000"/>
                </a:srgbClr>
              </a:gs>
              <a:gs pos="72000">
                <a:srgbClr val="002B52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29844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14300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85C227"/>
                </a:solidFill>
                <a:latin typeface="Montserrat"/>
              </a:rPr>
              <a:t>PARTE 3 · LIMITES E ROTINA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9144000" cy="6583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0" spc="-50">
                <a:solidFill>
                  <a:srgbClr val="FFFFFF"/>
                </a:solidFill>
                <a:latin typeface="Montserrat"/>
              </a:rPr>
              <a:t>Quando você está só</a:t>
            </a:r>
          </a:p>
          <a:p>
            <a:pPr algn="l">
              <a:lnSpc>
                <a:spcPct val="95000"/>
              </a:lnSpc>
            </a:pPr>
            <a:r>
              <a:rPr sz="11300" b="1" spc="-200">
                <a:solidFill>
                  <a:srgbClr val="85C227"/>
                </a:solidFill>
                <a:latin typeface="Montserrat"/>
              </a:rPr>
              <a:t>apagando</a:t>
            </a:r>
          </a:p>
          <a:p>
            <a:pPr algn="l">
              <a:lnSpc>
                <a:spcPct val="95000"/>
              </a:lnSpc>
            </a:pPr>
            <a:r>
              <a:rPr sz="11300" b="1" spc="-200">
                <a:solidFill>
                  <a:srgbClr val="85C227"/>
                </a:solidFill>
                <a:latin typeface="Montserrat"/>
              </a:rPr>
              <a:t>incêndios</a:t>
            </a:r>
          </a:p>
          <a:p>
            <a:pPr algn="l">
              <a:lnSpc>
                <a:spcPct val="95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95000"/>
              </a:lnSpc>
            </a:pPr>
            <a:r>
              <a:rPr sz="5400" b="0" spc="-50">
                <a:solidFill>
                  <a:srgbClr val="FFFFFF"/>
                </a:solidFill>
                <a:latin typeface="Montserrat"/>
              </a:rPr>
              <a:t>não está educando com</a:t>
            </a:r>
          </a:p>
          <a:p>
            <a:pPr algn="l">
              <a:lnSpc>
                <a:spcPct val="95000"/>
              </a:lnSpc>
            </a:pPr>
            <a:r>
              <a:rPr sz="5400" b="1" spc="-50">
                <a:solidFill>
                  <a:srgbClr val="FFFFFF"/>
                </a:solidFill>
                <a:latin typeface="Montserrat"/>
              </a:rPr>
              <a:t>intencionalidade!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-023-070.jpg"/>
          <p:cNvPicPr>
            <a:picLocks noChangeAspect="1"/>
          </p:cNvPicPr>
          <p:nvPr/>
        </p:nvPicPr>
        <p:blipFill>
          <a:blip r:embed="rId2"/>
          <a:srcRect t="7826" b="782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2B52">
                  <a:alpha val="70000"/>
                </a:srgbClr>
              </a:gs>
              <a:gs pos="100000">
                <a:srgbClr val="002B52">
                  <a:alpha val="88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5669280" cy="685800"/>
          </a:xfrm>
          <a:prstGeom prst="roundRect">
            <a:avLst>
              <a:gd name="adj" fmla="val 50000"/>
            </a:avLst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737360"/>
            <a:ext cx="56692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spc="300">
                <a:solidFill>
                  <a:srgbClr val="002B52"/>
                </a:solidFill>
                <a:latin typeface="Montserrat"/>
              </a:rPr>
              <a:t>PARA LEVAR PARA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73736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spc="-250">
                <a:solidFill>
                  <a:srgbClr val="FFFFFF"/>
                </a:solidFill>
                <a:latin typeface="Montserrat"/>
              </a:rPr>
              <a:t>Proprietário</a:t>
            </a:r>
          </a:p>
        </p:txBody>
      </p:sp>
      <p:sp>
        <p:nvSpPr>
          <p:cNvPr id="8" name="Oval 7"/>
          <p:cNvSpPr/>
          <p:nvPr/>
        </p:nvSpPr>
        <p:spPr>
          <a:xfrm>
            <a:off x="8458200" y="4800600"/>
            <a:ext cx="1371600" cy="1371600"/>
          </a:xfrm>
          <a:prstGeom prst="ellipse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480060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>
                <a:solidFill>
                  <a:srgbClr val="002B52"/>
                </a:solidFill>
                <a:latin typeface="Montserrat"/>
              </a:rPr>
              <a:t>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73736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spc="-250">
                <a:solidFill>
                  <a:srgbClr val="85C227"/>
                </a:solidFill>
                <a:latin typeface="Montserrat"/>
              </a:rPr>
              <a:t>Embaixador?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36554"/>
              </a:gs>
              <a:gs pos="100000">
                <a:srgbClr val="0263BA"/>
              </a:gs>
            </a:gsLst>
            <a:lin ang="2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dge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1097280"/>
            <a:ext cx="8046720" cy="7960381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051560" y="2468880"/>
            <a:ext cx="5486400" cy="5440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eg"/>
          <p:cNvPicPr>
            <a:picLocks noChangeAspect="1"/>
          </p:cNvPicPr>
          <p:nvPr/>
        </p:nvPicPr>
        <p:blipFill>
          <a:blip r:embed="rId3"/>
          <a:srcRect t="148" b="148"/>
          <a:stretch>
            <a:fillRect/>
          </a:stretch>
        </p:blipFill>
        <p:spPr>
          <a:xfrm>
            <a:off x="1554480" y="2880360"/>
            <a:ext cx="4480560" cy="4663440"/>
          </a:xfrm>
          <a:prstGeom prst="ellipse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778240" y="2286000"/>
            <a:ext cx="109728" cy="5486400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011680"/>
            <a:ext cx="8686800" cy="6035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900" b="1" spc="-100">
                <a:solidFill>
                  <a:srgbClr val="FFFFFF"/>
                </a:solidFill>
                <a:latin typeface="Montserrat"/>
              </a:rPr>
              <a:t>Educar com</a:t>
            </a:r>
          </a:p>
          <a:p>
            <a:pPr algn="l">
              <a:lnSpc>
                <a:spcPct val="100000"/>
              </a:lnSpc>
            </a:pPr>
            <a:r>
              <a:rPr sz="5900" b="0" spc="-100">
                <a:solidFill>
                  <a:srgbClr val="FFFFFF"/>
                </a:solidFill>
                <a:latin typeface="Montserrat"/>
              </a:rPr>
              <a:t>intenção é escolher</a:t>
            </a:r>
          </a:p>
          <a:p>
            <a:pPr algn="l">
              <a:lnSpc>
                <a:spcPct val="100000"/>
              </a:lnSpc>
            </a:pPr>
            <a:r>
              <a:rPr sz="1800">
                <a:latin typeface="Montserrat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8600" b="1" spc="-200">
                <a:solidFill>
                  <a:srgbClr val="85C227"/>
                </a:solidFill>
                <a:latin typeface="Montserrat"/>
              </a:rPr>
              <a:t>estar</a:t>
            </a:r>
          </a:p>
          <a:p>
            <a:pPr algn="l">
              <a:lnSpc>
                <a:spcPct val="100000"/>
              </a:lnSpc>
            </a:pPr>
            <a:r>
              <a:rPr sz="8600" b="1" spc="-200">
                <a:solidFill>
                  <a:srgbClr val="85C227"/>
                </a:solidFill>
                <a:latin typeface="Montserrat"/>
              </a:rPr>
              <a:t>presente.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0"/>
            <a:ext cx="7680960" cy="10287000"/>
          </a:xfrm>
          <a:prstGeom prst="rect">
            <a:avLst/>
          </a:prstGeom>
          <a:gradFill rotWithShape="1">
            <a:gsLst>
              <a:gs pos="0">
                <a:srgbClr val="036554"/>
              </a:gs>
              <a:gs pos="100000">
                <a:srgbClr val="0263B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3139492" cy="1188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97280" y="3447288"/>
            <a:ext cx="640080" cy="100584"/>
          </a:xfrm>
          <a:prstGeom prst="rect">
            <a:avLst/>
          </a:prstGeom>
          <a:solidFill>
            <a:srgbClr val="85C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32918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spc="300">
                <a:solidFill>
                  <a:srgbClr val="5E9E17"/>
                </a:solidFill>
                <a:latin typeface="Montserrat"/>
              </a:rPr>
              <a:t>VAMOS CONTINUAR A CONVERSA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89611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00" b="1" spc="-150">
                <a:solidFill>
                  <a:srgbClr val="004380"/>
                </a:solidFill>
                <a:latin typeface="Montserrat"/>
              </a:rPr>
              <a:t>Siga a INTEGRA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5943600"/>
            <a:ext cx="777240" cy="777240"/>
          </a:xfrm>
          <a:prstGeom prst="ellipse">
            <a:avLst/>
          </a:prstGeom>
          <a:solidFill>
            <a:srgbClr val="F2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612648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48839" y="5943600"/>
            <a:ext cx="8961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5C58"/>
                </a:solidFill>
                <a:latin typeface="Montserrat"/>
              </a:rPr>
              <a:t>@integra_escoladepais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6995160"/>
            <a:ext cx="777240" cy="777240"/>
          </a:xfrm>
          <a:prstGeom prst="ellipse">
            <a:avLst/>
          </a:prstGeom>
          <a:solidFill>
            <a:srgbClr val="F2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7178040"/>
            <a:ext cx="411480" cy="4135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48839" y="6995160"/>
            <a:ext cx="8961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5C58"/>
                </a:solidFill>
                <a:latin typeface="Montserrat"/>
              </a:rPr>
              <a:t>(11) 94702-8640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8046720"/>
            <a:ext cx="777240" cy="777240"/>
          </a:xfrm>
          <a:prstGeom prst="ellipse">
            <a:avLst/>
          </a:prstGeom>
          <a:solidFill>
            <a:srgbClr val="F2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8321040"/>
            <a:ext cx="411480" cy="2939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48839" y="8046720"/>
            <a:ext cx="8961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5C58"/>
                </a:solidFill>
                <a:latin typeface="Montserrat"/>
              </a:rPr>
              <a:t>contato@integraescoladepais.com</a:t>
            </a:r>
          </a:p>
        </p:txBody>
      </p:sp>
      <p:pic>
        <p:nvPicPr>
          <p:cNvPr id="17" name="Picture 16" descr="qr_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1440" y="2194560"/>
            <a:ext cx="6035040" cy="6035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607040" y="850392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spc="300">
                <a:solidFill>
                  <a:srgbClr val="FFFFFF"/>
                </a:solidFill>
                <a:latin typeface="Montserrat"/>
              </a:rPr>
              <a:t>APONTE A CÂMERA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DAHV1ClZwQs</dc:identifier>
  <dcterms:modified xsi:type="dcterms:W3CDTF">2011-08-01T06:04:30Z</dcterms:modified>
  <cp:revision>1</cp:revision>
  <dc:title>Emoções que Protegem</dc:title>
</cp:coreProperties>
</file>