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6.svg" ContentType="image/svg+xml"/>
  <Override PartName="/ppt/media/image2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5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</p:sldIdLst>
  <p:sldSz cx="18288000" cy="10287000"/>
  <p:notesSz cx="6858000" cy="9144000"/>
  <p:embeddedFontLst>
    <p:embeddedFont>
      <p:font typeface="Montserrat Bold" charset="1" panose="00000800000000000000"/>
      <p:regular r:id="rId37"/>
    </p:embeddedFont>
    <p:embeddedFont>
      <p:font typeface="Montserrat" charset="1" panose="00000500000000000000"/>
      <p:regular r:id="rId38"/>
    </p:embeddedFont>
    <p:embeddedFont>
      <p:font typeface="Poppins Bold" charset="1" panose="0000080000000000000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34" Type="http://schemas.openxmlformats.org/officeDocument/2006/relationships/notesMaster" Target="notesMasters/notesMaster1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Relationship Id="rId54" Type="http://schemas.openxmlformats.org/officeDocument/2006/relationships/slide" Target="slides/slide15.xml"/><Relationship Id="rId55" Type="http://schemas.openxmlformats.org/officeDocument/2006/relationships/slide" Target="slides/slide16.xml"/><Relationship Id="rId56" Type="http://schemas.openxmlformats.org/officeDocument/2006/relationships/slide" Target="slides/slide17.xml"/><Relationship Id="rId57" Type="http://schemas.openxmlformats.org/officeDocument/2006/relationships/slide" Target="slides/slide18.xml"/><Relationship Id="rId58" Type="http://schemas.openxmlformats.org/officeDocument/2006/relationships/slide" Target="slides/slide19.xml"/><Relationship Id="rId59" Type="http://schemas.openxmlformats.org/officeDocument/2006/relationships/slide" Target="slides/slide20.xml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23.xml"/><Relationship Id="rId63" Type="http://schemas.openxmlformats.org/officeDocument/2006/relationships/slide" Target="slides/slide24.xml"/><Relationship Id="rId64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40 s · INTEGRA · Aula 2</a:t>
            </a:r>
          </a:p>
          <a:p/>
          <a:p>
            <a:r>
              <a:t>• Boas-vindas à Escola de Pais</a:t>
            </a:r>
          </a:p>
          <a:p>
            <a:r>
              <a:t>• Tema de hoje: educar com intenção</a:t>
            </a:r>
          </a:p>
          <a:p/>
          <a:p>
            <a:r>
              <a:t>Boa noite, sejam muito bem-vindos à nossa segunda aula da Escola de Pais INTEGRA. Que bom ter vocês aqui de novo. Hoje vamos conversar sobre uma palavra que vai aparecer muitas vezes: intencionalidade. Ou seja, educar sabendo para onde estamos levando nossos filhos, e não só reagindo ao que acontece no dia.</a:t>
            </a:r>
          </a:p>
          <a:p/>
          <a:p>
            <a:r>
              <a:t>→ E para começar, uma frase que talvez incomode um pouco.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Não podemos educar só com o coração</a:t>
            </a:r>
          </a:p>
          <a:p/>
          <a:p>
            <a:r>
              <a:t>• Amor é a base, mas não é método</a:t>
            </a:r>
          </a:p>
          <a:p>
            <a:r>
              <a:t>• Educar com intenção: saber o que quero ensinar</a:t>
            </a:r>
          </a:p>
          <a:p>
            <a:r>
              <a:t>• Pergunta à plateia: o que você quer que seu filho aprenda com você?</a:t>
            </a:r>
          </a:p>
          <a:p/>
          <a:p>
            <a:r>
              <a:t>Todos nós amamos nossos filhos. Ninguém aqui tem dúvida disso. Mas o amor sozinho, sem direção, às vezes vira só emoção do momento: cedo porque fiquei com pena, grito porque estou cansado. Educar de forma intencional é parar e perguntar: o que eu quero que meu filho aprenda com isso? Que tipo de adulto eu estou ajudando a formar? Pensem por um instante: se seu filho pudesse aprender uma única coisa com você, qual seria?</a:t>
            </a:r>
          </a:p>
          <a:p/>
          <a:p>
            <a:r>
              <a:t>→ E educar com intenção começa por uma atitude bem simples.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Não seja omisso</a:t>
            </a:r>
          </a:p>
          <a:p/>
          <a:p>
            <a:r>
              <a:t>• A gelatina: sem forma, cede a qualquer toque</a:t>
            </a:r>
          </a:p>
          <a:p>
            <a:r>
              <a:t>• Omissão também educa, só que para o lado errado</a:t>
            </a:r>
          </a:p>
          <a:p>
            <a:r>
              <a:t>• Seja presente, esteja atento</a:t>
            </a:r>
          </a:p>
          <a:p/>
          <a:p>
            <a:r>
              <a:t>Olhem essa gelatina. Basta encostar que ela se deforma. Muitas vezes nós somos assim com nossos filhos: não tomamos posição, deixamos para depois, deixamos a escola ou a internet decidirem. Só que a omissão também educa. Quando eu não digo nada, meu filho entende que aquilo está tudo bem. Por isso o convite é: seja presente, esteja atento ao que ele vê, fala e sente.</a:t>
            </a:r>
          </a:p>
          <a:p/>
          <a:p>
            <a:r>
              <a:t>→ Mas atenção: estar presente não é só estar no mesmo lugar.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Estar por perto não é estar presente</a:t>
            </a:r>
          </a:p>
          <a:p/>
          <a:p>
            <a:r>
              <a:t>• A cena: família na mesma cama, cada um no seu celular</a:t>
            </a:r>
          </a:p>
          <a:p>
            <a:r>
              <a:t>• Presença é atenção, olhar e conversa</a:t>
            </a:r>
          </a:p>
          <a:p>
            <a:r>
              <a:t>• Pergunta: quanto tempo do seu dia é presença de verdade?</a:t>
            </a:r>
          </a:p>
          <a:p/>
          <a:p>
            <a:r>
              <a:t>Essa imagem é familiar para muita gente. Todo mundo junto, na mesma cama, e ninguém de fato junto. A criança está ali do lado, mas o pai e a mãe estão na tela. Estar por perto não é o mesmo que estar presente. Presença é olhar no olho, perguntar como foi o dia e ouvir a resposta inteira. Vale a pena pensar: do tempo que passo com meu filho, quanto é presença de verdade?</a:t>
            </a:r>
          </a:p>
          <a:p/>
          <a:p>
            <a:r>
              <a:t>→ E isso importa, porque o jeito como estamos com eles deixa marca.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A sua maneira de educar impacta</a:t>
            </a:r>
          </a:p>
          <a:p/>
          <a:p>
            <a:r>
              <a:t>• O jeito de educar molda a vida do filho</a:t>
            </a:r>
          </a:p>
          <a:p>
            <a:r>
              <a:t>• Filhos aprendem mais pelo exemplo que pelo discurso</a:t>
            </a:r>
          </a:p>
          <a:p/>
          <a:p>
            <a:r>
              <a:t>A sua maneira de educar impacta a vida do seu filho. Não só o que você fala, mas principalmente o que você faz. Se eu digo para ele largar o celular e eu não largo o meu, ele aprende o meu exemplo, não a minha frase. Cada atitude nossa é uma aula que eles assistem todos os dias.</a:t>
            </a:r>
          </a:p>
          <a:p/>
          <a:p>
            <a:r>
              <a:t>→ E aqui vale um alerta para não cairmos em extremos.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Nada é ruim, nada é bom totalmente</a:t>
            </a:r>
          </a:p>
          <a:p/>
          <a:p>
            <a:r>
              <a:t>• Tecnologia, brincadeira, liberdade: nada é só bom ou só ruim</a:t>
            </a:r>
          </a:p>
          <a:p>
            <a:r>
              <a:t>• O que define é a dose e o acompanhamento</a:t>
            </a:r>
          </a:p>
          <a:p>
            <a:r>
              <a:t>• Evitar culpa e evitar proibir tudo</a:t>
            </a:r>
          </a:p>
          <a:p/>
          <a:p>
            <a:r>
              <a:t>Não estou aqui para dizer que celular é o vilão ou que vocês estão fazendo tudo errado. Nada é ruim totalmente, e nada é bom totalmente. O celular pode ensinar e pode atrapalhar. A liberdade pode fortalecer e pode deixar a criança sozinha. O que faz a diferença é a dose e se existe um adulto acompanhando. Então, sem culpa e sem radicalismo: com equilíbrio.</a:t>
            </a:r>
          </a:p>
          <a:p/>
          <a:p>
            <a:r>
              <a:t>→ Afinal, todos nós queremos a mesma coisa para os nossos filhos.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Um filho vencedor</a:t>
            </a:r>
          </a:p>
          <a:p/>
          <a:p>
            <a:r>
              <a:t>• O desejo comum: ver o filho bem daqui a alguns anos</a:t>
            </a:r>
          </a:p>
          <a:p>
            <a:r>
              <a:t>• Vencedor: feliz, íntegro, com bons valores</a:t>
            </a:r>
          </a:p>
          <a:p/>
          <a:p>
            <a:r>
              <a:t>Eu quero que daqui a alguns anos você tenha um filho vencedor. E quando digo vencedor, não falo só de dinheiro ou diploma. Falo de um adulto feliz, com bons valores, que sabe lidar com a vida e que vai querer estar perto de vocês, como nessa foto, rindo junto no sofá.</a:t>
            </a:r>
          </a:p>
          <a:p/>
          <a:p>
            <a:r>
              <a:t>→ Mas para que isso aconteça…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 · Mas para que isso aconteça…</a:t>
            </a:r>
          </a:p>
          <a:p/>
          <a:p>
            <a:r>
              <a:t>• Os degraus: cada dia é um passo</a:t>
            </a:r>
          </a:p>
          <a:p>
            <a:r>
              <a:t>• Não acontece por acaso</a:t>
            </a:r>
          </a:p>
          <a:p/>
          <a:p>
            <a:r>
              <a:t>Mas para que isso aconteça, é preciso subir degrau por degrau. Não existe atalho. Um filho vencedor é construído hoje, nas pequenas escolhas do dia a dia.</a:t>
            </a:r>
          </a:p>
          <a:p/>
          <a:p>
            <a:r>
              <a:t>→ E para entender por que o dia a dia pesa tanto, olhem esta imagem.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A criança é esponja</a:t>
            </a:r>
          </a:p>
          <a:p/>
          <a:p>
            <a:r>
              <a:t>• A esponja absorve tudo, o limpo e o sujo</a:t>
            </a:r>
          </a:p>
          <a:p>
            <a:r>
              <a:t>• A criança não escolhe o que absorve</a:t>
            </a:r>
          </a:p>
          <a:p/>
          <a:p>
            <a:r>
              <a:t>O que uma esponja faz? Ela absorve. Tudo. Se a água é limpa, absorve água limpa. Se é suja, absorve a sujeira. Ela não escolhe. A criança é assim: absorve o que vê em casa, o tom de voz, as palavras, as telas, o que ouve dos adultos. Ela ainda não tem filtro próprio.</a:t>
            </a:r>
          </a:p>
          <a:p/>
          <a:p>
            <a:r>
              <a:t>→ E tudo isso vai parar em um lugar.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Tudo fica registrado</a:t>
            </a:r>
          </a:p>
          <a:p/>
          <a:p>
            <a:r>
              <a:t>• O cérebro da criança está em formação</a:t>
            </a:r>
          </a:p>
          <a:p>
            <a:r>
              <a:t>• O que ela vive vira referência para a vida</a:t>
            </a:r>
          </a:p>
          <a:p/>
          <a:p>
            <a:r>
              <a:t>No cérebro. O cérebro da criança está se formando, e cada experiência deixa um registro. O que ela vive em casa vira referência de como o mundo funciona: como se resolve um conflito, como se trata quem a gente ama, o que é certo e errado. Por isso o que entra importa tanto.</a:t>
            </a:r>
          </a:p>
          <a:p/>
          <a:p>
            <a:r>
              <a:t>→ E se a criança é esponja, alguém precisa cuidar do que chega até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Os pais precisam ser filtros</a:t>
            </a:r>
          </a:p>
          <a:p/>
          <a:p>
            <a:r>
              <a:t>• Criança é esponja, só absorve</a:t>
            </a:r>
          </a:p>
          <a:p>
            <a:r>
              <a:t>• Pais filtram: escolhem, explicam, protegem</a:t>
            </a:r>
          </a:p>
          <a:p>
            <a:r>
              <a:t>• Filtrar não é esconder o mundo, é traduzir o mundo</a:t>
            </a:r>
          </a:p>
          <a:p/>
          <a:p>
            <a:r>
              <a:t>Os pais precisam ser filtros da realidade, porque a criança é esponja, e a esponja só absorve. Ser filtro não é colocar o filho numa bolha. É escolher o que ele está pronto para ver e, quando algo difícil chegar, estar ali para explicar, dar sentido, mostrar o que é certo. O filtro deixa passar o que nutre e segura o que faz mal.</a:t>
            </a:r>
          </a:p>
          <a:p/>
          <a:p>
            <a:r>
              <a:t>→ E hoje tem muita coisa tentando passar por esse filtro.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Valores que consomem</a:t>
            </a:r>
          </a:p>
          <a:p/>
          <a:p>
            <a:r>
              <a:t>• Youtubers, games, redes sociais, celular</a:t>
            </a:r>
          </a:p>
          <a:p>
            <a:r>
              <a:t>• Esses canais também ensinam valores</a:t>
            </a:r>
          </a:p>
          <a:p>
            <a:r>
              <a:t>• Pergunta: você sabe quem seu filho assiste?</a:t>
            </a:r>
          </a:p>
          <a:p/>
          <a:p>
            <a:r>
              <a:t>Nossos filhos estão sendo criados com os valores que consomem: youtubers, games, redes sociais, celular. Essas telas também educam. Elas ensinam o que é ser bonito, o que é ter sucesso, como se fala com os outros. Então eu pergunto: você sabe quem são os youtubers favoritos do seu filho? Já assistiu junto com ele?</a:t>
            </a:r>
          </a:p>
          <a:p/>
          <a:p>
            <a:r>
              <a:t>→ E muitas vezes isso acontece bem do nosso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Todos juntos, cada um na sua tela</a:t>
            </a:r>
          </a:p>
          <a:p/>
          <a:p>
            <a:r>
              <a:t>• A cena: pai no notebook, filha no celular, mãe no tablet</a:t>
            </a:r>
          </a:p>
          <a:p>
            <a:r>
              <a:t>• Ninguém está filtrando nada</a:t>
            </a:r>
          </a:p>
          <a:p/>
          <a:p>
            <a:r>
              <a:t>Olhem essa família. Estão todos no sofá, juntos. O pai no notebook, a filha no celular, a mãe no tablet. Ninguém está fazendo nada de errado, e ao mesmo tempo ninguém está filtrando nada. A filha está absorvendo o que aparece na tela dela, sozinha. Quantas vezes por semana a nossa sala fica assim?</a:t>
            </a:r>
          </a:p>
          <a:p/>
          <a:p>
            <a:r>
              <a:t>→ E isso leva a uma pergunta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Qual é a sua lente?</a:t>
            </a:r>
          </a:p>
          <a:p/>
          <a:p>
            <a:r>
              <a:t>• A lente define o que enxergamos</a:t>
            </a:r>
          </a:p>
          <a:p>
            <a:r>
              <a:t>• Pergunta para a plateia responder em silêncio ou em voz alta</a:t>
            </a:r>
          </a:p>
          <a:p/>
          <a:p>
            <a:r>
              <a:t>Qual é a sua lente? Cada um de nós olha para a educação dos filhos por uma lente: a do cansaço, a da culpa, a do medo, a do jeito que fomos criados. Essa lente define o que a gente vê e o que deixa passar. Peço que vocês pensem por um momento, ou compartilhem se quiserem: com que lente você tem olhado para o seu filho?</a:t>
            </a:r>
          </a:p>
          <a:p/>
          <a:p>
            <a:r>
              <a:t>→ Porque, no fim das contas, a lente e o filtro são vocês.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Você é o filtro!</a:t>
            </a:r>
          </a:p>
          <a:p/>
          <a:p>
            <a:r>
              <a:t>• Não é a escola nem o aplicativo</a:t>
            </a:r>
          </a:p>
          <a:p>
            <a:r>
              <a:t>• O filtro principal é o pai e a mãe</a:t>
            </a:r>
          </a:p>
          <a:p/>
          <a:p>
            <a:r>
              <a:t>Você é o filtro. Não é a escola, não é o controle parental do aplicativo, não é a avó. Todos eles ajudam, mas o filtro principal é quem está em casa, quem tem a autoridade e o vínculo. É você.</a:t>
            </a:r>
          </a:p>
          <a:p/>
          <a:p>
            <a:r>
              <a:t>→ Só que tem um ponto que pesa na rotina de quase todos nós.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Presente não substitui presença</a:t>
            </a:r>
          </a:p>
          <a:p/>
          <a:p>
            <a:r>
              <a:t>• Trabalhamos muito para dar o melhor, o sonho da Disney</a:t>
            </a:r>
          </a:p>
          <a:p>
            <a:r>
              <a:t>• Quem está em casa ensinando o que é certo e errado?</a:t>
            </a:r>
          </a:p>
          <a:p>
            <a:r>
              <a:t>• Presente não substitui presença</a:t>
            </a:r>
          </a:p>
          <a:p/>
          <a:p>
            <a:r>
              <a:t>Você trabalha, trabalha, trabalha. Quer dar o melhor, sonha em levar pra Disney. E isso é bonito, é cuidado. Mas, enquanto isso, quem está em casa ensinando o que é certo e o que é errado? O presente, aquilo que a gente compra, não substitui a presença. O brinquedo dura uma semana. A conversa de dez minutos no fim do dia fica para a vida.</a:t>
            </a:r>
          </a:p>
          <a:p/>
          <a:p>
            <a:r>
              <a:t>→ E muitas vezes, quando finalmente chegamos em casa, acontece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O celular para ter paz</a:t>
            </a:r>
          </a:p>
          <a:p/>
          <a:p>
            <a:r>
              <a:t>• Chegamos cansados e damos o celular para ter paz</a:t>
            </a:r>
          </a:p>
          <a:p>
            <a:r>
              <a:t>• Perdemos a chance de ensinar valores</a:t>
            </a:r>
          </a:p>
          <a:p>
            <a:r>
              <a:t>• Sem culpa: trocar um momento por dia já muda</a:t>
            </a:r>
          </a:p>
          <a:p/>
          <a:p>
            <a:r>
              <a:t>Aí você chega em casa cansado e dá o celular para ter paz. Todo mundo já fez isso, eu também. E nessa você perde a oportunidade de ensinar valores, de se fazer presente. Não precisa ser perfeito. Comece trocando um momento por dia: o jantar sem tela, a conversa antes de dormir. Pequeno, mas intencional.</a:t>
            </a:r>
          </a:p>
          <a:p/>
          <a:p>
            <a:r>
              <a:t>→ Porque educar é isso: construir com intenção.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Construa seu filho com intencionalidade</a:t>
            </a:r>
          </a:p>
          <a:p/>
          <a:p>
            <a:r>
              <a:t>• Educar é construir, peça por peça</a:t>
            </a:r>
          </a:p>
          <a:p>
            <a:r>
              <a:t>• Um jogo, uma conversa, um momento junto</a:t>
            </a:r>
          </a:p>
          <a:p/>
          <a:p>
            <a:r>
              <a:t>Construa seu filho com intencionalidade. Como nessa foto, pai e filho montando um jogo juntos, peça por peça. Cada momento assim é uma peça na construção de quem ele vai ser. Não é sobre ter muito tempo, é sobre usar o tempo que temos com intenção.</a:t>
            </a:r>
          </a:p>
          <a:p/>
          <a:p>
            <a:r>
              <a:t>→ E construir também exige uma ferramenta que muitos pais têm medo de usar.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Limites: afasta ou aproxima?</a:t>
            </a:r>
          </a:p>
          <a:p/>
          <a:p>
            <a:r>
              <a:t>• A cena do supermercado: a birra</a:t>
            </a:r>
          </a:p>
          <a:p>
            <a:r>
              <a:t>• Pergunta: o limite afasta ou aproxima?</a:t>
            </a:r>
          </a:p>
          <a:p>
            <a:r>
              <a:t>• Ouvir a plateia</a:t>
            </a:r>
          </a:p>
          <a:p/>
          <a:p>
            <a:r>
              <a:t>Limites. Quem nunca passou por essa cena do supermercado? A criança quer, a gente diz não, e vem a birra. Muitos pais têm medo de dizer não porque acham que o filho vai se afastar, vai ficar com raiva, vai gostar menos deles. Então eu pergunto para vocês: o limite afasta ou aproxima? Quero ouvir o que vocês pensam.</a:t>
            </a:r>
          </a:p>
          <a:p/>
          <a:p>
            <a:r>
              <a:t>→ E a resposta talvez surpreenda.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Limite é cuidado</a:t>
            </a:r>
          </a:p>
          <a:p/>
          <a:p>
            <a:r>
              <a:t>• Limite é cuidado, é segurança</a:t>
            </a:r>
          </a:p>
          <a:p>
            <a:r>
              <a:t>• É amor que ensina</a:t>
            </a:r>
          </a:p>
          <a:p>
            <a:r>
              <a:t>• Exemplo: escovar os dentes mesmo sem vontade</a:t>
            </a:r>
          </a:p>
          <a:p/>
          <a:p>
            <a:r>
              <a:t>Limite é cuidado, é segurança, é amor que ensina. Pensem na escova de dentes. Nenhuma criança acorda querendo escovar os dentes, e mesmo assim a gente insiste, porque sabe que é para o bem dela. Limite é isso. A criança que tem limites se sente segura, porque sabe que existe um adulto cuidando. O limite, dado com carinho, aproxima.</a:t>
            </a:r>
          </a:p>
          <a:p/>
          <a:p>
            <a:r>
              <a:t>→ Só que, para dar limite com calma e intenção, a gente precisa de tempo. E tempo anda em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Nosso dia a dia está acelerado</a:t>
            </a:r>
          </a:p>
          <a:p/>
          <a:p>
            <a:r>
              <a:t>• Trabalho, casa, filhos, tudo ao mesmo tempo</a:t>
            </a:r>
          </a:p>
          <a:p>
            <a:r>
              <a:t>• A pressa empurra a educação para o automático</a:t>
            </a:r>
          </a:p>
          <a:p/>
          <a:p>
            <a:r>
              <a:t>Nosso dia a dia está cada vez mais acelerado. A mãe que trabalha com o filho do lado, o pai que responde mensagem no jantar, todo mundo fazendo mil coisas ao mesmo tempo. Ninguém aqui está sendo julgado por isso. Mas a pressa tem um efeito: ela empurra a educação para o piloto automático.</a:t>
            </a:r>
          </a:p>
          <a:p/>
          <a:p>
            <a:r>
              <a:t>→ E no piloto automático a gente vira bombeiro.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30 s · Apagando incêndios</a:t>
            </a:r>
          </a:p>
          <a:p/>
          <a:p>
            <a:r>
              <a:t>• Reagir só quando o problema aparece</a:t>
            </a:r>
          </a:p>
          <a:p>
            <a:r>
              <a:t>• Apagar incêndio não é educar com intenção</a:t>
            </a:r>
          </a:p>
          <a:p>
            <a:r>
              <a:t>• Prevenir: conversar antes de o problema surgir</a:t>
            </a:r>
          </a:p>
          <a:p/>
          <a:p>
            <a:r>
              <a:t>Quando você está só apagando incêndios, não está educando com intencionalidade. É quando a gente só aparece na hora da briga, da nota baixa, da bronca da escola. Apagar incêndio é necessário, mas não é educar. Educar é conversar antes, combinar regras antes, estar presente antes de o fogo começar.</a:t>
            </a:r>
          </a:p>
          <a:p/>
          <a:p>
            <a:r>
              <a:t>→ E para fechar, quero deixar uma pergunta para vocês levarem para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min · Proprietário ou Embaixador?</a:t>
            </a:r>
          </a:p>
          <a:p/>
          <a:p>
            <a:r>
              <a:t>• Proprietário: controla, prende, o filho é posse</a:t>
            </a:r>
          </a:p>
          <a:p>
            <a:r>
              <a:t>• Embaixador: representa valores, orienta, prepara para o mundo</a:t>
            </a:r>
          </a:p>
          <a:p>
            <a:r>
              <a:t>• Pergunta para levar para casa</a:t>
            </a:r>
          </a:p>
          <a:p/>
          <a:p>
            <a:r>
              <a:t>Proprietário ou embaixador? O proprietário trata o filho como posse: controla tudo, prende, como essas algemas. O embaixador representa algo maior. Ele vive e mostra os valores que quer passar, orienta e prepara o filho para ir para o mundo. Nossos filhos não são nossos para sempre, eles são nossos para preparar. Levem essa pergunta para casa: hoje, eu tenho sido proprietário ou embaixador do meu filho?</a:t>
            </a:r>
          </a:p>
          <a:p/>
          <a:p>
            <a:r>
              <a:t>→ E para encerrar, uma frase para guardar.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min · Educar com intenção</a:t>
            </a:r>
          </a:p>
          <a:p/>
          <a:p>
            <a:r>
              <a:t>• Retomar: presença, filtro, limite</a:t>
            </a:r>
          </a:p>
          <a:p>
            <a:r>
              <a:t>• Compromisso da semana: um momento intencional por dia</a:t>
            </a:r>
          </a:p>
          <a:p/>
          <a:p>
            <a:r>
              <a:t>Educar com intenção é escolher estar presente. Hoje falamos de três coisas: estar presente de verdade, ser o filtro do que chega até nossos filhos e usar o limite como amor. O meu convite para esta semana é simples: escolha um momento por dia, sem tela, só seu e do seu filho. Pequeno, mas intencional. Muito obrigada pela presença de vocês.</a:t>
            </a:r>
          </a:p>
          <a:p/>
          <a:p>
            <a:r>
              <a:t>→ E continuem com a gente nas redes.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30 s · Contato</a:t>
            </a:r>
          </a:p>
          <a:p/>
          <a:p>
            <a:r>
              <a:t>• Instagram @integra_escoladepais (QR code)</a:t>
            </a:r>
          </a:p>
          <a:p>
            <a:r>
              <a:t>• WhatsApp e e-mail</a:t>
            </a:r>
          </a:p>
          <a:p/>
          <a:p>
            <a:r>
              <a:t>Quem quiser continuar a conversa, nos siga no Instagram, @integra_escoladepais. É só apontar a câmera para o QR code. O WhatsApp e o e-mail estão aqui também. Até a próxima aula!</a:t>
            </a:r>
          </a:p>
          <a:p/>
          <a:p>
            <a:r>
              <a:t>→ Mensagem final: um momento intencional por dia, sem tela, só você e seu filho.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3.png"/><Relationship Id="rId5" Type="http://schemas.openxmlformats.org/officeDocument/2006/relationships/image" Target="../media/image6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svg"/><Relationship Id="rId5" Type="http://schemas.openxmlformats.org/officeDocument/2006/relationships/image" Target="../media/image66.jp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67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3.png"/><Relationship Id="rId5" Type="http://schemas.openxmlformats.org/officeDocument/2006/relationships/image" Target="../media/image68.jp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69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image" Target="../media/image27.png"/><Relationship Id="rId7" Type="http://schemas.openxmlformats.org/officeDocument/2006/relationships/image" Target="../media/image28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70.jpg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image" Target="../media/image27.png"/><Relationship Id="rId7" Type="http://schemas.openxmlformats.org/officeDocument/2006/relationships/image" Target="../media/image28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71.jpg"/><Relationship Id="rId1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image" Target="../media/image27.png"/><Relationship Id="rId7" Type="http://schemas.openxmlformats.org/officeDocument/2006/relationships/image" Target="../media/image28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72.jpg"/><Relationship Id="rId1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image" Target="../media/image27.png"/><Relationship Id="rId7" Type="http://schemas.openxmlformats.org/officeDocument/2006/relationships/image" Target="../media/image28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73.jpg"/><Relationship Id="rId1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3.png"/><Relationship Id="rId5" Type="http://schemas.openxmlformats.org/officeDocument/2006/relationships/image" Target="../media/image74.jp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75.jpg"/><Relationship Id="rId5" Type="http://schemas.openxmlformats.org/officeDocument/2006/relationships/image" Target="../media/image76.jpg"/><Relationship Id="rId6" Type="http://schemas.openxmlformats.org/officeDocument/2006/relationships/image" Target="../media/image77.jpg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image" Target="../media/image27.png"/><Relationship Id="rId7" Type="http://schemas.openxmlformats.org/officeDocument/2006/relationships/image" Target="../media/image28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78.jpg"/><Relationship Id="rId11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image" Target="../media/image27.png"/><Relationship Id="rId7" Type="http://schemas.openxmlformats.org/officeDocument/2006/relationships/image" Target="../media/image28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79.jpg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svg"/><Relationship Id="rId5" Type="http://schemas.openxmlformats.org/officeDocument/2006/relationships/image" Target="../media/image80.jp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81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3.png"/><Relationship Id="rId5" Type="http://schemas.openxmlformats.org/officeDocument/2006/relationships/image" Target="../media/image82.jp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svg"/><Relationship Id="rId5" Type="http://schemas.openxmlformats.org/officeDocument/2006/relationships/image" Target="../media/image83.jp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84.png"/><Relationship Id="rId8" Type="http://schemas.openxmlformats.org/officeDocument/2006/relationships/image" Target="../media/image85.jpg"/><Relationship Id="rId9" Type="http://schemas.openxmlformats.org/officeDocument/2006/relationships/image" Target="../media/image86.jp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3.png"/><Relationship Id="rId5" Type="http://schemas.openxmlformats.org/officeDocument/2006/relationships/image" Target="../media/image87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88.jpg"/><Relationship Id="rId5" Type="http://schemas.openxmlformats.org/officeDocument/2006/relationships/image" Target="../media/image89.jp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3.png"/><Relationship Id="rId5" Type="http://schemas.openxmlformats.org/officeDocument/2006/relationships/image" Target="../media/image90.jp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5.png"/><Relationship Id="rId5" Type="http://schemas.openxmlformats.org/officeDocument/2006/relationships/image" Target="../media/image26.svg"/><Relationship Id="rId6" Type="http://schemas.openxmlformats.org/officeDocument/2006/relationships/image" Target="../media/image27.png"/><Relationship Id="rId7" Type="http://schemas.openxmlformats.org/officeDocument/2006/relationships/image" Target="../media/image28.sv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91.jpg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e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eg"/><Relationship Id="rId3" Type="http://schemas.openxmlformats.org/officeDocument/2006/relationships/image" Target="../media/image6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svg"/><Relationship Id="rId7" Type="http://schemas.openxmlformats.org/officeDocument/2006/relationships/image" Target="../media/image61.png"/><Relationship Id="rId8" Type="http://schemas.openxmlformats.org/officeDocument/2006/relationships/image" Target="../media/image62.svg"/><Relationship Id="rId9" Type="http://schemas.openxmlformats.org/officeDocument/2006/relationships/image" Target="../media/image63.png"/><Relationship Id="rId10" Type="http://schemas.openxmlformats.org/officeDocument/2006/relationships/image" Target="../media/image64.svg"/><Relationship Id="rId11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3" id="3"/>
          <p:cNvGrpSpPr/>
          <p:nvPr/>
        </p:nvGrpSpPr>
        <p:grpSpPr>
          <a:xfrm rot="0">
            <a:off x="539606" y="477879"/>
            <a:ext cx="17326355" cy="937590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8500"/>
                  </a:srgbClr>
                </a:gs>
                <a:gs pos="100000">
                  <a:srgbClr val="0362B8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5" id="5"/>
          <p:cNvGrpSpPr/>
          <p:nvPr/>
        </p:nvGrpSpPr>
        <p:grpSpPr>
          <a:xfrm rot="0">
            <a:off x="539606" y="455549"/>
            <a:ext cx="17326355" cy="9375903"/>
            <a:chOff x="0" y="0"/>
            <a:chExt cx="2684306" cy="14525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2"/>
              <a:stretch>
                <a:fillRect l="-21437" t="0" r="-21437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7980577">
            <a:off x="-1389918" y="-1182440"/>
            <a:ext cx="3086100" cy="2700338"/>
            <a:chOff x="0" y="0"/>
            <a:chExt cx="812800" cy="7112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06146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27000" y="12700"/>
              <a:ext cx="558800" cy="368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-1531912">
            <a:off x="-3455187" y="-3643957"/>
            <a:ext cx="15469832" cy="8199011"/>
          </a:xfrm>
          <a:custGeom>
            <a:avLst/>
            <a:gdLst/>
            <a:ahLst/>
            <a:cxnLst/>
            <a:rect r="r" b="b" t="t" l="l"/>
            <a:pathLst>
              <a:path h="8199011" w="15469832">
                <a:moveTo>
                  <a:pt x="0" y="0"/>
                </a:moveTo>
                <a:lnTo>
                  <a:pt x="15469832" y="0"/>
                </a:lnTo>
                <a:lnTo>
                  <a:pt x="15469832" y="8199011"/>
                </a:lnTo>
                <a:lnTo>
                  <a:pt x="0" y="81990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598770" y="1028700"/>
            <a:ext cx="15208026" cy="8229600"/>
            <a:chOff x="0" y="0"/>
            <a:chExt cx="2684306" cy="145257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30035" y="0"/>
                  </a:moveTo>
                  <a:lnTo>
                    <a:pt x="2654271" y="0"/>
                  </a:lnTo>
                  <a:cubicBezTo>
                    <a:pt x="2670859" y="0"/>
                    <a:pt x="2684306" y="13447"/>
                    <a:pt x="2684306" y="30035"/>
                  </a:cubicBezTo>
                  <a:lnTo>
                    <a:pt x="2684306" y="1422538"/>
                  </a:lnTo>
                  <a:cubicBezTo>
                    <a:pt x="2684306" y="1430503"/>
                    <a:pt x="2681141" y="1438143"/>
                    <a:pt x="2675509" y="1443776"/>
                  </a:cubicBezTo>
                  <a:cubicBezTo>
                    <a:pt x="2669876" y="1449408"/>
                    <a:pt x="2662237" y="1452573"/>
                    <a:pt x="2654271" y="1452573"/>
                  </a:cubicBezTo>
                  <a:lnTo>
                    <a:pt x="30035" y="1452573"/>
                  </a:lnTo>
                  <a:cubicBezTo>
                    <a:pt x="13447" y="1452573"/>
                    <a:pt x="0" y="1439126"/>
                    <a:pt x="0" y="1422538"/>
                  </a:cubicBezTo>
                  <a:lnTo>
                    <a:pt x="0" y="30035"/>
                  </a:lnTo>
                  <a:cubicBezTo>
                    <a:pt x="0" y="13447"/>
                    <a:pt x="13447" y="0"/>
                    <a:pt x="3003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3132" y="5960683"/>
            <a:ext cx="3893099" cy="3893099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04775" cap="sq">
              <a:solidFill>
                <a:srgbClr val="006146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589885" y="6520032"/>
            <a:ext cx="2875162" cy="2738268"/>
          </a:xfrm>
          <a:custGeom>
            <a:avLst/>
            <a:gdLst/>
            <a:ahLst/>
            <a:cxnLst/>
            <a:rect r="r" b="b" t="t" l="l"/>
            <a:pathLst>
              <a:path h="2738268" w="2875162">
                <a:moveTo>
                  <a:pt x="0" y="0"/>
                </a:moveTo>
                <a:lnTo>
                  <a:pt x="2875161" y="0"/>
                </a:lnTo>
                <a:lnTo>
                  <a:pt x="2875161" y="2738268"/>
                </a:lnTo>
                <a:lnTo>
                  <a:pt x="0" y="27382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-151455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895527" y="1314235"/>
            <a:ext cx="4614513" cy="2147098"/>
          </a:xfrm>
          <a:custGeom>
            <a:avLst/>
            <a:gdLst/>
            <a:ahLst/>
            <a:cxnLst/>
            <a:rect r="r" b="b" t="t" l="l"/>
            <a:pathLst>
              <a:path h="2147098" w="4614513">
                <a:moveTo>
                  <a:pt x="0" y="0"/>
                </a:moveTo>
                <a:lnTo>
                  <a:pt x="4614513" y="0"/>
                </a:lnTo>
                <a:lnTo>
                  <a:pt x="4614513" y="2147098"/>
                </a:lnTo>
                <a:lnTo>
                  <a:pt x="0" y="214709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66977" t="0" r="0" b="-3592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7031932" y="7641097"/>
            <a:ext cx="3872442" cy="885553"/>
            <a:chOff x="0" y="0"/>
            <a:chExt cx="539674" cy="12341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9674" cy="123413"/>
            </a:xfrm>
            <a:custGeom>
              <a:avLst/>
              <a:gdLst/>
              <a:ahLst/>
              <a:cxnLst/>
              <a:rect r="r" b="b" t="t" l="l"/>
              <a:pathLst>
                <a:path h="123413" w="539674">
                  <a:moveTo>
                    <a:pt x="61706" y="0"/>
                  </a:moveTo>
                  <a:lnTo>
                    <a:pt x="477967" y="0"/>
                  </a:lnTo>
                  <a:cubicBezTo>
                    <a:pt x="494333" y="0"/>
                    <a:pt x="510028" y="6501"/>
                    <a:pt x="521600" y="18073"/>
                  </a:cubicBezTo>
                  <a:cubicBezTo>
                    <a:pt x="533172" y="29646"/>
                    <a:pt x="539674" y="45341"/>
                    <a:pt x="539674" y="61706"/>
                  </a:cubicBezTo>
                  <a:lnTo>
                    <a:pt x="539674" y="61706"/>
                  </a:lnTo>
                  <a:cubicBezTo>
                    <a:pt x="539674" y="95786"/>
                    <a:pt x="512047" y="123413"/>
                    <a:pt x="477967" y="123413"/>
                  </a:cubicBezTo>
                  <a:lnTo>
                    <a:pt x="61706" y="123413"/>
                  </a:lnTo>
                  <a:cubicBezTo>
                    <a:pt x="27627" y="123413"/>
                    <a:pt x="0" y="95786"/>
                    <a:pt x="0" y="61706"/>
                  </a:cubicBezTo>
                  <a:lnTo>
                    <a:pt x="0" y="61706"/>
                  </a:lnTo>
                  <a:cubicBezTo>
                    <a:pt x="0" y="27627"/>
                    <a:pt x="27627" y="0"/>
                    <a:pt x="61706" y="0"/>
                  </a:cubicBezTo>
                  <a:close/>
                </a:path>
              </a:pathLst>
            </a:custGeom>
            <a:solidFill>
              <a:srgbClr val="006146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9674" cy="1615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266268" y="7753713"/>
            <a:ext cx="3514875" cy="593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68"/>
              </a:lnSpc>
              <a:spcBef>
                <a:spcPct val="0"/>
              </a:spcBef>
            </a:pPr>
            <a:r>
              <a:rPr lang="en-US" sz="3548" spc="-273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Aline Richetto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2496" y="3977639"/>
            <a:ext cx="14932151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0" b="1">
                <a:solidFill>
                  <a:srgbClr val="69B21C"/>
                </a:solidFill>
                <a:latin typeface="Montserrat"/>
              </a:rPr>
              <a:t>Aula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9504" y="5532120"/>
            <a:ext cx="12874752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36554"/>
                </a:solidFill>
                <a:latin typeface="Montserrat"/>
              </a:rPr>
              <a:t>Educar com intencionalidade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2444616" y="1247247"/>
            <a:ext cx="12935616" cy="0"/>
          </a:xfrm>
          <a:prstGeom prst="line">
            <a:avLst/>
          </a:prstGeom>
          <a:ln cap="rnd" w="104775">
            <a:solidFill>
              <a:srgbClr val="005D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5575829" y="7462918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5" y="0"/>
                </a:lnTo>
                <a:lnTo>
                  <a:pt x="6853225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2650305" y="9050524"/>
            <a:ext cx="17326355" cy="9375903"/>
            <a:chOff x="0" y="0"/>
            <a:chExt cx="2684306" cy="14525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5653054">
            <a:off x="11577267" y="-69147"/>
            <a:ext cx="17326355" cy="9375903"/>
            <a:chOff x="0" y="0"/>
            <a:chExt cx="2684306" cy="14525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pic>
        <p:nvPicPr>
          <p:cNvPr id="8" name="Picture 7" descr="x-002-002.jpg"/>
          <p:cNvPicPr>
            <a:picLocks noChangeAspect="1"/>
          </p:cNvPicPr>
          <p:nvPr/>
        </p:nvPicPr>
        <p:blipFill>
          <a:blip r:embed="rId5"/>
          <a:srcRect l="20674" r="20674"/>
          <a:stretch>
            <a:fillRect/>
          </a:stretch>
        </p:blipFill>
        <p:spPr>
          <a:xfrm>
            <a:off x="9144000" y="1600200"/>
            <a:ext cx="6675120" cy="7589520"/>
          </a:xfrm>
          <a:prstGeom prst="roundRect">
            <a:avLst>
              <a:gd name="adj" fmla="val 6000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280160" y="1371600"/>
            <a:ext cx="7589520" cy="7955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800" b="1">
                <a:solidFill>
                  <a:srgbClr val="2D5C58"/>
                </a:solidFill>
                <a:latin typeface="Montserrat"/>
              </a:rPr>
              <a:t>Não podemos educar só com o coração.</a:t>
            </a:r>
          </a:p>
          <a:p>
            <a:pPr algn="l">
              <a:lnSpc>
                <a:spcPct val="95000"/>
              </a:lnSpc>
            </a:pPr>
            <a:r>
              <a:rPr sz="2000"/>
              <a:t/>
            </a:r>
          </a:p>
          <a:p>
            <a:pPr algn="l">
              <a:lnSpc>
                <a:spcPct val="95000"/>
              </a:lnSpc>
            </a:pPr>
            <a:r>
              <a:rPr sz="6800" b="1">
                <a:solidFill>
                  <a:srgbClr val="69B21C"/>
                </a:solidFill>
                <a:latin typeface="Montserrat"/>
              </a:rPr>
              <a:t>Eduque de forma intencional!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-2576713" y="6560989"/>
            <a:ext cx="17326355" cy="9375903"/>
            <a:chOff x="0" y="0"/>
            <a:chExt cx="2684306" cy="14525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2"/>
              <a:stretch>
                <a:fillRect l="-21437" t="0" r="-21437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26740" y="1185989"/>
            <a:ext cx="8394924" cy="8696037"/>
            <a:chOff x="0" y="0"/>
            <a:chExt cx="2211009" cy="22903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11009" cy="2290314"/>
            </a:xfrm>
            <a:custGeom>
              <a:avLst/>
              <a:gdLst/>
              <a:ahLst/>
              <a:cxnLst/>
              <a:rect r="r" b="b" t="t" l="l"/>
              <a:pathLst>
                <a:path h="2290314" w="2211009">
                  <a:moveTo>
                    <a:pt x="47033" y="0"/>
                  </a:moveTo>
                  <a:lnTo>
                    <a:pt x="2163976" y="0"/>
                  </a:lnTo>
                  <a:cubicBezTo>
                    <a:pt x="2176450" y="0"/>
                    <a:pt x="2188413" y="4955"/>
                    <a:pt x="2197233" y="13776"/>
                  </a:cubicBezTo>
                  <a:cubicBezTo>
                    <a:pt x="2206054" y="22596"/>
                    <a:pt x="2211009" y="34559"/>
                    <a:pt x="2211009" y="47033"/>
                  </a:cubicBezTo>
                  <a:lnTo>
                    <a:pt x="2211009" y="2243281"/>
                  </a:lnTo>
                  <a:cubicBezTo>
                    <a:pt x="2211009" y="2269257"/>
                    <a:pt x="2189951" y="2290314"/>
                    <a:pt x="2163976" y="2290314"/>
                  </a:cubicBezTo>
                  <a:lnTo>
                    <a:pt x="47033" y="2290314"/>
                  </a:lnTo>
                  <a:cubicBezTo>
                    <a:pt x="21057" y="2290314"/>
                    <a:pt x="0" y="2269257"/>
                    <a:pt x="0" y="2243281"/>
                  </a:cubicBezTo>
                  <a:lnTo>
                    <a:pt x="0" y="47033"/>
                  </a:lnTo>
                  <a:cubicBezTo>
                    <a:pt x="0" y="21057"/>
                    <a:pt x="21057" y="0"/>
                    <a:pt x="470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211009" cy="23284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name="AutoShape 9" id="9"/>
          <p:cNvSpPr/>
          <p:nvPr/>
        </p:nvSpPr>
        <p:spPr>
          <a:xfrm>
            <a:off x="1329162" y="655191"/>
            <a:ext cx="15385004" cy="0"/>
          </a:xfrm>
          <a:prstGeom prst="line">
            <a:avLst/>
          </a:prstGeom>
          <a:ln cap="rnd" w="104775">
            <a:solidFill>
              <a:srgbClr val="40429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-3198028" y="7695399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1" name="Picture 10" descr="x-003-005.jpg"/>
          <p:cNvPicPr>
            <a:picLocks noChangeAspect="1"/>
          </p:cNvPicPr>
          <p:nvPr/>
        </p:nvPicPr>
        <p:blipFill>
          <a:blip r:embed="rId5"/>
          <a:srcRect l="17423" r="17423"/>
          <a:stretch>
            <a:fillRect/>
          </a:stretch>
        </p:blipFill>
        <p:spPr>
          <a:xfrm>
            <a:off x="9336024" y="1188720"/>
            <a:ext cx="8503920" cy="8695944"/>
          </a:xfrm>
          <a:prstGeom prst="roundRect">
            <a:avLst>
              <a:gd name="adj" fmla="val 4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1463040"/>
            <a:ext cx="7452360" cy="8138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200" b="1">
                <a:solidFill>
                  <a:srgbClr val="FFFFFF"/>
                </a:solidFill>
                <a:latin typeface="Montserrat"/>
              </a:rPr>
              <a:t>Não seja omisso.</a:t>
            </a:r>
          </a:p>
          <a:p>
            <a:pPr algn="ctr">
              <a:lnSpc>
                <a:spcPct val="95000"/>
              </a:lnSpc>
            </a:pPr>
            <a:r>
              <a:rPr sz="2000"/>
              <a:t/>
            </a:r>
          </a:p>
          <a:p>
            <a:pPr algn="ctr">
              <a:lnSpc>
                <a:spcPct val="95000"/>
              </a:lnSpc>
            </a:pPr>
            <a:r>
              <a:rPr sz="6200" b="1">
                <a:solidFill>
                  <a:srgbClr val="85C227"/>
                </a:solidFill>
                <a:latin typeface="Montserrat"/>
              </a:rPr>
              <a:t>Seja presente.</a:t>
            </a:r>
          </a:p>
          <a:p>
            <a:pPr algn="ctr">
              <a:lnSpc>
                <a:spcPct val="95000"/>
              </a:lnSpc>
            </a:pPr>
            <a:r>
              <a:rPr sz="6200" b="1">
                <a:solidFill>
                  <a:srgbClr val="85C227"/>
                </a:solidFill>
                <a:latin typeface="Montserrat"/>
              </a:rPr>
              <a:t>Esteja atento!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28245219" y="-11627394"/>
            <a:ext cx="51411091" cy="51411091"/>
          </a:xfrm>
          <a:custGeom>
            <a:avLst/>
            <a:gdLst/>
            <a:ahLst/>
            <a:cxnLst/>
            <a:rect r="r" b="b" t="t" l="l"/>
            <a:pathLst>
              <a:path h="51411091" w="51411091">
                <a:moveTo>
                  <a:pt x="0" y="0"/>
                </a:moveTo>
                <a:lnTo>
                  <a:pt x="51411092" y="0"/>
                </a:lnTo>
                <a:lnTo>
                  <a:pt x="51411092" y="51411092"/>
                </a:lnTo>
                <a:lnTo>
                  <a:pt x="0" y="51411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055258" y="6808582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98770" y="1028700"/>
            <a:ext cx="15208026" cy="8229600"/>
            <a:chOff x="0" y="0"/>
            <a:chExt cx="2684306" cy="14525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30035" y="0"/>
                  </a:moveTo>
                  <a:lnTo>
                    <a:pt x="2654271" y="0"/>
                  </a:lnTo>
                  <a:cubicBezTo>
                    <a:pt x="2670859" y="0"/>
                    <a:pt x="2684306" y="13447"/>
                    <a:pt x="2684306" y="30035"/>
                  </a:cubicBezTo>
                  <a:lnTo>
                    <a:pt x="2684306" y="1422538"/>
                  </a:lnTo>
                  <a:cubicBezTo>
                    <a:pt x="2684306" y="1430503"/>
                    <a:pt x="2681141" y="1438143"/>
                    <a:pt x="2675509" y="1443776"/>
                  </a:cubicBezTo>
                  <a:cubicBezTo>
                    <a:pt x="2669876" y="1449408"/>
                    <a:pt x="2662237" y="1452573"/>
                    <a:pt x="2654271" y="1452573"/>
                  </a:cubicBezTo>
                  <a:lnTo>
                    <a:pt x="30035" y="1452573"/>
                  </a:lnTo>
                  <a:cubicBezTo>
                    <a:pt x="13447" y="1452573"/>
                    <a:pt x="0" y="1439126"/>
                    <a:pt x="0" y="1422538"/>
                  </a:cubicBezTo>
                  <a:lnTo>
                    <a:pt x="0" y="30035"/>
                  </a:lnTo>
                  <a:cubicBezTo>
                    <a:pt x="0" y="13447"/>
                    <a:pt x="13447" y="0"/>
                    <a:pt x="3003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2376814" y="1205219"/>
            <a:ext cx="14035496" cy="2299902"/>
            <a:chOff x="0" y="0"/>
            <a:chExt cx="3436841" cy="5631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36841" cy="563172"/>
            </a:xfrm>
            <a:custGeom>
              <a:avLst/>
              <a:gdLst/>
              <a:ahLst/>
              <a:cxnLst/>
              <a:rect r="r" b="b" t="t" l="l"/>
              <a:pathLst>
                <a:path h="563172" w="3436841">
                  <a:moveTo>
                    <a:pt x="30338" y="0"/>
                  </a:moveTo>
                  <a:lnTo>
                    <a:pt x="3406503" y="0"/>
                  </a:lnTo>
                  <a:cubicBezTo>
                    <a:pt x="3414549" y="0"/>
                    <a:pt x="3422266" y="3196"/>
                    <a:pt x="3427955" y="8886"/>
                  </a:cubicBezTo>
                  <a:cubicBezTo>
                    <a:pt x="3433645" y="14575"/>
                    <a:pt x="3436841" y="22292"/>
                    <a:pt x="3436841" y="30338"/>
                  </a:cubicBezTo>
                  <a:lnTo>
                    <a:pt x="3436841" y="532834"/>
                  </a:lnTo>
                  <a:cubicBezTo>
                    <a:pt x="3436841" y="540880"/>
                    <a:pt x="3433645" y="548597"/>
                    <a:pt x="3427955" y="554286"/>
                  </a:cubicBezTo>
                  <a:cubicBezTo>
                    <a:pt x="3422266" y="559976"/>
                    <a:pt x="3414549" y="563172"/>
                    <a:pt x="3406503" y="563172"/>
                  </a:cubicBezTo>
                  <a:lnTo>
                    <a:pt x="30338" y="563172"/>
                  </a:lnTo>
                  <a:cubicBezTo>
                    <a:pt x="22292" y="563172"/>
                    <a:pt x="14575" y="559976"/>
                    <a:pt x="8886" y="554286"/>
                  </a:cubicBezTo>
                  <a:cubicBezTo>
                    <a:pt x="3196" y="548597"/>
                    <a:pt x="0" y="540880"/>
                    <a:pt x="0" y="532834"/>
                  </a:cubicBezTo>
                  <a:lnTo>
                    <a:pt x="0" y="30338"/>
                  </a:lnTo>
                  <a:cubicBezTo>
                    <a:pt x="0" y="22292"/>
                    <a:pt x="3196" y="14575"/>
                    <a:pt x="8886" y="8886"/>
                  </a:cubicBezTo>
                  <a:cubicBezTo>
                    <a:pt x="14575" y="3196"/>
                    <a:pt x="22292" y="0"/>
                    <a:pt x="30338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436841" cy="6012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743200" y="1325880"/>
            <a:ext cx="13350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Estar por perto não é o mesmo</a:t>
            </a:r>
          </a:p>
          <a:p>
            <a:pPr algn="ctr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que estar presente!</a:t>
            </a:r>
          </a:p>
        </p:txBody>
      </p:sp>
      <p:pic>
        <p:nvPicPr>
          <p:cNvPr id="13" name="Picture 12" descr="x-004-008.jpg"/>
          <p:cNvPicPr>
            <a:picLocks noChangeAspect="1"/>
          </p:cNvPicPr>
          <p:nvPr/>
        </p:nvPicPr>
        <p:blipFill>
          <a:blip r:embed="rId4"/>
          <a:srcRect t="19842" b="19842"/>
          <a:stretch>
            <a:fillRect/>
          </a:stretch>
        </p:blipFill>
        <p:spPr>
          <a:xfrm>
            <a:off x="2377440" y="3794760"/>
            <a:ext cx="13624560" cy="5120640"/>
          </a:xfrm>
          <a:prstGeom prst="roundRect">
            <a:avLst>
              <a:gd name="adj" fmla="val 6000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2463108" y="976312"/>
            <a:ext cx="12935616" cy="0"/>
          </a:xfrm>
          <a:prstGeom prst="line">
            <a:avLst/>
          </a:prstGeom>
          <a:ln cap="rnd" w="104775">
            <a:solidFill>
              <a:srgbClr val="85C22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3480300" y="-4431871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1750525" y="7862825"/>
            <a:ext cx="17326355" cy="9375903"/>
            <a:chOff x="0" y="0"/>
            <a:chExt cx="2684306" cy="14525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5653054">
            <a:off x="8998781" y="-748616"/>
            <a:ext cx="17326355" cy="9375903"/>
            <a:chOff x="0" y="0"/>
            <a:chExt cx="2684306" cy="14525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pic>
        <p:nvPicPr>
          <p:cNvPr id="8" name="Picture 7" descr="x-005-013.jpg"/>
          <p:cNvPicPr>
            <a:picLocks noChangeAspect="1"/>
          </p:cNvPicPr>
          <p:nvPr/>
        </p:nvPicPr>
        <p:blipFill>
          <a:blip r:embed="rId5"/>
          <a:srcRect l="20811" r="20811"/>
          <a:stretch>
            <a:fillRect/>
          </a:stretch>
        </p:blipFill>
        <p:spPr>
          <a:xfrm>
            <a:off x="9144000" y="1600200"/>
            <a:ext cx="6675120" cy="7589520"/>
          </a:xfrm>
          <a:prstGeom prst="roundRect">
            <a:avLst>
              <a:gd name="adj" fmla="val 6000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280160" y="1371600"/>
            <a:ext cx="7589520" cy="7955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800" b="1">
                <a:solidFill>
                  <a:srgbClr val="2D5C58"/>
                </a:solidFill>
                <a:latin typeface="Montserrat"/>
              </a:rPr>
              <a:t>A sua maneira de educar</a:t>
            </a:r>
          </a:p>
          <a:p>
            <a:pPr algn="l">
              <a:lnSpc>
                <a:spcPct val="95000"/>
              </a:lnSpc>
            </a:pPr>
            <a:r>
              <a:rPr sz="6800" b="1">
                <a:solidFill>
                  <a:srgbClr val="0263BA"/>
                </a:solidFill>
                <a:latin typeface="Montserrat"/>
              </a:rPr>
              <a:t>impacta a vida</a:t>
            </a:r>
          </a:p>
          <a:p>
            <a:pPr algn="l">
              <a:lnSpc>
                <a:spcPct val="95000"/>
              </a:lnSpc>
            </a:pPr>
            <a:r>
              <a:rPr sz="6800" b="1">
                <a:solidFill>
                  <a:srgbClr val="2D5C58"/>
                </a:solidFill>
                <a:latin typeface="Montserrat"/>
              </a:rPr>
              <a:t>do seu filho.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28245219" y="-11627394"/>
            <a:ext cx="51411091" cy="51411091"/>
          </a:xfrm>
          <a:custGeom>
            <a:avLst/>
            <a:gdLst/>
            <a:ahLst/>
            <a:cxnLst/>
            <a:rect r="r" b="b" t="t" l="l"/>
            <a:pathLst>
              <a:path h="51411091" w="51411091">
                <a:moveTo>
                  <a:pt x="0" y="0"/>
                </a:moveTo>
                <a:lnTo>
                  <a:pt x="51411092" y="0"/>
                </a:lnTo>
                <a:lnTo>
                  <a:pt x="51411092" y="51411092"/>
                </a:lnTo>
                <a:lnTo>
                  <a:pt x="0" y="51411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055258" y="6808582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98770" y="1028700"/>
            <a:ext cx="15208026" cy="8229600"/>
            <a:chOff x="0" y="0"/>
            <a:chExt cx="2684306" cy="14525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30035" y="0"/>
                  </a:moveTo>
                  <a:lnTo>
                    <a:pt x="2654271" y="0"/>
                  </a:lnTo>
                  <a:cubicBezTo>
                    <a:pt x="2670859" y="0"/>
                    <a:pt x="2684306" y="13447"/>
                    <a:pt x="2684306" y="30035"/>
                  </a:cubicBezTo>
                  <a:lnTo>
                    <a:pt x="2684306" y="1422538"/>
                  </a:lnTo>
                  <a:cubicBezTo>
                    <a:pt x="2684306" y="1430503"/>
                    <a:pt x="2681141" y="1438143"/>
                    <a:pt x="2675509" y="1443776"/>
                  </a:cubicBezTo>
                  <a:cubicBezTo>
                    <a:pt x="2669876" y="1449408"/>
                    <a:pt x="2662237" y="1452573"/>
                    <a:pt x="2654271" y="1452573"/>
                  </a:cubicBezTo>
                  <a:lnTo>
                    <a:pt x="30035" y="1452573"/>
                  </a:lnTo>
                  <a:cubicBezTo>
                    <a:pt x="13447" y="1452573"/>
                    <a:pt x="0" y="1439126"/>
                    <a:pt x="0" y="1422538"/>
                  </a:cubicBezTo>
                  <a:lnTo>
                    <a:pt x="0" y="30035"/>
                  </a:lnTo>
                  <a:cubicBezTo>
                    <a:pt x="0" y="13447"/>
                    <a:pt x="13447" y="0"/>
                    <a:pt x="3003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9" name="TextBox 8"/>
          <p:cNvSpPr txBox="1"/>
          <p:nvPr/>
        </p:nvSpPr>
        <p:spPr>
          <a:xfrm>
            <a:off x="2377440" y="1600200"/>
            <a:ext cx="8046720" cy="731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900" b="1">
                <a:solidFill>
                  <a:srgbClr val="0263BA"/>
                </a:solidFill>
                <a:latin typeface="Montserrat"/>
              </a:rPr>
              <a:t>Nada é ruim</a:t>
            </a:r>
          </a:p>
          <a:p>
            <a:pPr algn="l">
              <a:lnSpc>
                <a:spcPct val="95000"/>
              </a:lnSpc>
            </a:pPr>
            <a:r>
              <a:rPr sz="7900" b="1">
                <a:solidFill>
                  <a:srgbClr val="0263BA"/>
                </a:solidFill>
                <a:latin typeface="Montserrat"/>
              </a:rPr>
              <a:t>totalmente.</a:t>
            </a:r>
          </a:p>
          <a:p>
            <a:pPr algn="l">
              <a:lnSpc>
                <a:spcPct val="95000"/>
              </a:lnSpc>
            </a:pPr>
            <a:r>
              <a:rPr sz="2000"/>
              <a:t/>
            </a:r>
          </a:p>
          <a:p>
            <a:pPr algn="l">
              <a:lnSpc>
                <a:spcPct val="95000"/>
              </a:lnSpc>
            </a:pPr>
            <a:r>
              <a:rPr sz="7900" b="1">
                <a:solidFill>
                  <a:srgbClr val="69B21C"/>
                </a:solidFill>
                <a:latin typeface="Montserrat"/>
              </a:rPr>
              <a:t>Nada é bom</a:t>
            </a:r>
          </a:p>
          <a:p>
            <a:pPr algn="l">
              <a:lnSpc>
                <a:spcPct val="95000"/>
              </a:lnSpc>
            </a:pPr>
            <a:r>
              <a:rPr sz="7900" b="1">
                <a:solidFill>
                  <a:srgbClr val="69B21C"/>
                </a:solidFill>
                <a:latin typeface="Montserrat"/>
              </a:rPr>
              <a:t>totalmente.</a:t>
            </a:r>
          </a:p>
        </p:txBody>
      </p:sp>
      <p:pic>
        <p:nvPicPr>
          <p:cNvPr id="10" name="Picture 9" descr="x-006-014.jpg"/>
          <p:cNvPicPr>
            <a:picLocks noChangeAspect="1"/>
          </p:cNvPicPr>
          <p:nvPr/>
        </p:nvPicPr>
        <p:blipFill>
          <a:blip r:embed="rId4"/>
          <a:srcRect l="21500" r="21500"/>
          <a:stretch>
            <a:fillRect/>
          </a:stretch>
        </p:blipFill>
        <p:spPr>
          <a:xfrm>
            <a:off x="10789920" y="1600200"/>
            <a:ext cx="5212080" cy="7315200"/>
          </a:xfrm>
          <a:prstGeom prst="roundRect">
            <a:avLst>
              <a:gd name="adj" fmla="val 6000"/>
            </a:avLst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5916258" y="3290594"/>
            <a:ext cx="992106" cy="1053394"/>
          </a:xfrm>
          <a:custGeom>
            <a:avLst/>
            <a:gdLst/>
            <a:ahLst/>
            <a:cxnLst/>
            <a:rect r="r" b="b" t="t" l="l"/>
            <a:pathLst>
              <a:path h="1053394" w="992106">
                <a:moveTo>
                  <a:pt x="0" y="0"/>
                </a:moveTo>
                <a:lnTo>
                  <a:pt x="992106" y="0"/>
                </a:lnTo>
                <a:lnTo>
                  <a:pt x="992106" y="1053395"/>
                </a:lnTo>
                <a:lnTo>
                  <a:pt x="0" y="1053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5" id="5"/>
          <p:cNvSpPr/>
          <p:nvPr/>
        </p:nvSpPr>
        <p:spPr>
          <a:xfrm flipH="false" flipV="false" rot="1383930">
            <a:off x="-4511309" y="2899050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383930">
            <a:off x="13591777" y="548069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383930">
            <a:off x="13318875" y="-451130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7" y="0"/>
                </a:lnTo>
                <a:lnTo>
                  <a:pt x="9022617" y="9022618"/>
                </a:lnTo>
                <a:lnTo>
                  <a:pt x="0" y="90226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2" name="Picture 11" descr="x-007-015.jpg"/>
          <p:cNvPicPr>
            <a:picLocks noChangeAspect="1"/>
          </p:cNvPicPr>
          <p:nvPr/>
        </p:nvPicPr>
        <p:blipFill>
          <a:blip r:embed="rId10"/>
          <a:srcRect t="5891" b="5891"/>
          <a:stretch>
            <a:fillRect/>
          </a:stretch>
        </p:blipFill>
        <p:spPr>
          <a:xfrm>
            <a:off x="1463040" y="777240"/>
            <a:ext cx="15361920" cy="8732520"/>
          </a:xfrm>
          <a:prstGeom prst="roundRect">
            <a:avLst>
              <a:gd name="adj" fmla="val 4000"/>
            </a:avLst>
          </a:prstGeom>
        </p:spPr>
      </p:pic>
      <p:grpSp>
        <p:nvGrpSpPr>
          <p:cNvPr name="Group 7" id="7"/>
          <p:cNvGrpSpPr/>
          <p:nvPr/>
        </p:nvGrpSpPr>
        <p:grpSpPr>
          <a:xfrm rot="0">
            <a:off x="2258568" y="6903720"/>
            <a:ext cx="14143396" cy="2713401"/>
            <a:chOff x="0" y="0"/>
            <a:chExt cx="3463262" cy="66442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463262" cy="664425"/>
            </a:xfrm>
            <a:custGeom>
              <a:avLst/>
              <a:gdLst/>
              <a:ahLst/>
              <a:cxnLst/>
              <a:rect r="r" b="b" t="t" l="l"/>
              <a:pathLst>
                <a:path h="664425" w="3463262">
                  <a:moveTo>
                    <a:pt x="30106" y="0"/>
                  </a:moveTo>
                  <a:lnTo>
                    <a:pt x="3433156" y="0"/>
                  </a:lnTo>
                  <a:cubicBezTo>
                    <a:pt x="3449783" y="0"/>
                    <a:pt x="3463262" y="13479"/>
                    <a:pt x="3463262" y="30106"/>
                  </a:cubicBezTo>
                  <a:lnTo>
                    <a:pt x="3463262" y="634318"/>
                  </a:lnTo>
                  <a:cubicBezTo>
                    <a:pt x="3463262" y="642303"/>
                    <a:pt x="3460090" y="649961"/>
                    <a:pt x="3454444" y="655607"/>
                  </a:cubicBezTo>
                  <a:cubicBezTo>
                    <a:pt x="3448798" y="661253"/>
                    <a:pt x="3441141" y="664425"/>
                    <a:pt x="3433156" y="664425"/>
                  </a:cubicBezTo>
                  <a:lnTo>
                    <a:pt x="30106" y="664425"/>
                  </a:lnTo>
                  <a:cubicBezTo>
                    <a:pt x="13479" y="664425"/>
                    <a:pt x="0" y="650946"/>
                    <a:pt x="0" y="634318"/>
                  </a:cubicBezTo>
                  <a:lnTo>
                    <a:pt x="0" y="30106"/>
                  </a:lnTo>
                  <a:cubicBezTo>
                    <a:pt x="0" y="22122"/>
                    <a:pt x="3172" y="14464"/>
                    <a:pt x="8818" y="8818"/>
                  </a:cubicBezTo>
                  <a:cubicBezTo>
                    <a:pt x="14464" y="3172"/>
                    <a:pt x="22122" y="0"/>
                    <a:pt x="30106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463262" cy="702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2514600" y="7269480"/>
            <a:ext cx="136245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ontserrat"/>
              </a:rPr>
              <a:t>Eu quero que daqui a alguns anos você tenha um filho vencedor!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5916258" y="3290594"/>
            <a:ext cx="992106" cy="1053394"/>
          </a:xfrm>
          <a:custGeom>
            <a:avLst/>
            <a:gdLst/>
            <a:ahLst/>
            <a:cxnLst/>
            <a:rect r="r" b="b" t="t" l="l"/>
            <a:pathLst>
              <a:path h="1053394" w="992106">
                <a:moveTo>
                  <a:pt x="0" y="0"/>
                </a:moveTo>
                <a:lnTo>
                  <a:pt x="992106" y="0"/>
                </a:lnTo>
                <a:lnTo>
                  <a:pt x="992106" y="1053395"/>
                </a:lnTo>
                <a:lnTo>
                  <a:pt x="0" y="1053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5" id="5"/>
          <p:cNvSpPr/>
          <p:nvPr/>
        </p:nvSpPr>
        <p:spPr>
          <a:xfrm flipH="false" flipV="false" rot="1383930">
            <a:off x="-4511309" y="2899050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383930">
            <a:off x="13591777" y="548069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383930">
            <a:off x="13318875" y="-451130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7" y="0"/>
                </a:lnTo>
                <a:lnTo>
                  <a:pt x="9022617" y="9022618"/>
                </a:lnTo>
                <a:lnTo>
                  <a:pt x="0" y="90226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2" name="Picture 11" descr="x-008-018.jpg"/>
          <p:cNvPicPr>
            <a:picLocks noChangeAspect="1"/>
          </p:cNvPicPr>
          <p:nvPr/>
        </p:nvPicPr>
        <p:blipFill>
          <a:blip r:embed="rId10"/>
          <a:srcRect t="7339" b="7339"/>
          <a:stretch>
            <a:fillRect/>
          </a:stretch>
        </p:blipFill>
        <p:spPr>
          <a:xfrm>
            <a:off x="1463040" y="777240"/>
            <a:ext cx="15361920" cy="8732520"/>
          </a:xfrm>
          <a:prstGeom prst="roundRect">
            <a:avLst>
              <a:gd name="adj" fmla="val 4000"/>
            </a:avLst>
          </a:prstGeom>
        </p:spPr>
      </p:pic>
      <p:grpSp>
        <p:nvGrpSpPr>
          <p:cNvPr name="Group 7" id="7"/>
          <p:cNvGrpSpPr/>
          <p:nvPr/>
        </p:nvGrpSpPr>
        <p:grpSpPr>
          <a:xfrm rot="0">
            <a:off x="2258568" y="6903720"/>
            <a:ext cx="14143396" cy="2713401"/>
            <a:chOff x="0" y="0"/>
            <a:chExt cx="3463262" cy="66442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463262" cy="664425"/>
            </a:xfrm>
            <a:custGeom>
              <a:avLst/>
              <a:gdLst/>
              <a:ahLst/>
              <a:cxnLst/>
              <a:rect r="r" b="b" t="t" l="l"/>
              <a:pathLst>
                <a:path h="664425" w="3463262">
                  <a:moveTo>
                    <a:pt x="30106" y="0"/>
                  </a:moveTo>
                  <a:lnTo>
                    <a:pt x="3433156" y="0"/>
                  </a:lnTo>
                  <a:cubicBezTo>
                    <a:pt x="3449783" y="0"/>
                    <a:pt x="3463262" y="13479"/>
                    <a:pt x="3463262" y="30106"/>
                  </a:cubicBezTo>
                  <a:lnTo>
                    <a:pt x="3463262" y="634318"/>
                  </a:lnTo>
                  <a:cubicBezTo>
                    <a:pt x="3463262" y="642303"/>
                    <a:pt x="3460090" y="649961"/>
                    <a:pt x="3454444" y="655607"/>
                  </a:cubicBezTo>
                  <a:cubicBezTo>
                    <a:pt x="3448798" y="661253"/>
                    <a:pt x="3441141" y="664425"/>
                    <a:pt x="3433156" y="664425"/>
                  </a:cubicBezTo>
                  <a:lnTo>
                    <a:pt x="30106" y="664425"/>
                  </a:lnTo>
                  <a:cubicBezTo>
                    <a:pt x="13479" y="664425"/>
                    <a:pt x="0" y="650946"/>
                    <a:pt x="0" y="634318"/>
                  </a:cubicBezTo>
                  <a:lnTo>
                    <a:pt x="0" y="30106"/>
                  </a:lnTo>
                  <a:cubicBezTo>
                    <a:pt x="0" y="22122"/>
                    <a:pt x="3172" y="14464"/>
                    <a:pt x="8818" y="8818"/>
                  </a:cubicBezTo>
                  <a:cubicBezTo>
                    <a:pt x="14464" y="3172"/>
                    <a:pt x="22122" y="0"/>
                    <a:pt x="30106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463262" cy="702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2514600" y="7269480"/>
            <a:ext cx="136245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Mas para que isso aconteça…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5916258" y="3290594"/>
            <a:ext cx="992106" cy="1053394"/>
          </a:xfrm>
          <a:custGeom>
            <a:avLst/>
            <a:gdLst/>
            <a:ahLst/>
            <a:cxnLst/>
            <a:rect r="r" b="b" t="t" l="l"/>
            <a:pathLst>
              <a:path h="1053394" w="992106">
                <a:moveTo>
                  <a:pt x="0" y="0"/>
                </a:moveTo>
                <a:lnTo>
                  <a:pt x="992106" y="0"/>
                </a:lnTo>
                <a:lnTo>
                  <a:pt x="992106" y="1053395"/>
                </a:lnTo>
                <a:lnTo>
                  <a:pt x="0" y="1053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5" id="5"/>
          <p:cNvSpPr/>
          <p:nvPr/>
        </p:nvSpPr>
        <p:spPr>
          <a:xfrm flipH="false" flipV="false" rot="1383930">
            <a:off x="-4511309" y="2899050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383930">
            <a:off x="13591777" y="548069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383930">
            <a:off x="13318875" y="-451130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7" y="0"/>
                </a:lnTo>
                <a:lnTo>
                  <a:pt x="9022617" y="9022618"/>
                </a:lnTo>
                <a:lnTo>
                  <a:pt x="0" y="90226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2" name="Picture 11" descr="x-009-021.jpg"/>
          <p:cNvPicPr>
            <a:picLocks noChangeAspect="1"/>
          </p:cNvPicPr>
          <p:nvPr/>
        </p:nvPicPr>
        <p:blipFill>
          <a:blip r:embed="rId10"/>
          <a:srcRect t="7219" b="7219"/>
          <a:stretch>
            <a:fillRect/>
          </a:stretch>
        </p:blipFill>
        <p:spPr>
          <a:xfrm>
            <a:off x="1463040" y="777240"/>
            <a:ext cx="15361920" cy="8732520"/>
          </a:xfrm>
          <a:prstGeom prst="roundRect">
            <a:avLst>
              <a:gd name="adj" fmla="val 4000"/>
            </a:avLst>
          </a:prstGeom>
        </p:spPr>
      </p:pic>
      <p:grpSp>
        <p:nvGrpSpPr>
          <p:cNvPr name="Group 7" id="7"/>
          <p:cNvGrpSpPr/>
          <p:nvPr/>
        </p:nvGrpSpPr>
        <p:grpSpPr>
          <a:xfrm rot="0">
            <a:off x="2258568" y="6903720"/>
            <a:ext cx="14143396" cy="2713401"/>
            <a:chOff x="0" y="0"/>
            <a:chExt cx="3463262" cy="66442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463262" cy="664425"/>
            </a:xfrm>
            <a:custGeom>
              <a:avLst/>
              <a:gdLst/>
              <a:ahLst/>
              <a:cxnLst/>
              <a:rect r="r" b="b" t="t" l="l"/>
              <a:pathLst>
                <a:path h="664425" w="3463262">
                  <a:moveTo>
                    <a:pt x="30106" y="0"/>
                  </a:moveTo>
                  <a:lnTo>
                    <a:pt x="3433156" y="0"/>
                  </a:lnTo>
                  <a:cubicBezTo>
                    <a:pt x="3449783" y="0"/>
                    <a:pt x="3463262" y="13479"/>
                    <a:pt x="3463262" y="30106"/>
                  </a:cubicBezTo>
                  <a:lnTo>
                    <a:pt x="3463262" y="634318"/>
                  </a:lnTo>
                  <a:cubicBezTo>
                    <a:pt x="3463262" y="642303"/>
                    <a:pt x="3460090" y="649961"/>
                    <a:pt x="3454444" y="655607"/>
                  </a:cubicBezTo>
                  <a:cubicBezTo>
                    <a:pt x="3448798" y="661253"/>
                    <a:pt x="3441141" y="664425"/>
                    <a:pt x="3433156" y="664425"/>
                  </a:cubicBezTo>
                  <a:lnTo>
                    <a:pt x="30106" y="664425"/>
                  </a:lnTo>
                  <a:cubicBezTo>
                    <a:pt x="13479" y="664425"/>
                    <a:pt x="0" y="650946"/>
                    <a:pt x="0" y="634318"/>
                  </a:cubicBezTo>
                  <a:lnTo>
                    <a:pt x="0" y="30106"/>
                  </a:lnTo>
                  <a:cubicBezTo>
                    <a:pt x="0" y="22122"/>
                    <a:pt x="3172" y="14464"/>
                    <a:pt x="8818" y="8818"/>
                  </a:cubicBezTo>
                  <a:cubicBezTo>
                    <a:pt x="14464" y="3172"/>
                    <a:pt x="22122" y="0"/>
                    <a:pt x="30106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463262" cy="702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2514600" y="7269480"/>
            <a:ext cx="136245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A criança é esponja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5916258" y="3290594"/>
            <a:ext cx="992106" cy="1053394"/>
          </a:xfrm>
          <a:custGeom>
            <a:avLst/>
            <a:gdLst/>
            <a:ahLst/>
            <a:cxnLst/>
            <a:rect r="r" b="b" t="t" l="l"/>
            <a:pathLst>
              <a:path h="1053394" w="992106">
                <a:moveTo>
                  <a:pt x="0" y="0"/>
                </a:moveTo>
                <a:lnTo>
                  <a:pt x="992106" y="0"/>
                </a:lnTo>
                <a:lnTo>
                  <a:pt x="992106" y="1053395"/>
                </a:lnTo>
                <a:lnTo>
                  <a:pt x="0" y="1053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5" id="5"/>
          <p:cNvSpPr/>
          <p:nvPr/>
        </p:nvSpPr>
        <p:spPr>
          <a:xfrm flipH="false" flipV="false" rot="1383930">
            <a:off x="-4511309" y="2899050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383930">
            <a:off x="13591777" y="548069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383930">
            <a:off x="13318875" y="-451130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7" y="0"/>
                </a:lnTo>
                <a:lnTo>
                  <a:pt x="9022617" y="9022618"/>
                </a:lnTo>
                <a:lnTo>
                  <a:pt x="0" y="90226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2" name="Picture 11" descr="x-010-025.jpg"/>
          <p:cNvPicPr>
            <a:picLocks noChangeAspect="1"/>
          </p:cNvPicPr>
          <p:nvPr/>
        </p:nvPicPr>
        <p:blipFill>
          <a:blip r:embed="rId10"/>
          <a:srcRect t="21577" b="21577"/>
          <a:stretch>
            <a:fillRect/>
          </a:stretch>
        </p:blipFill>
        <p:spPr>
          <a:xfrm>
            <a:off x="1463040" y="777240"/>
            <a:ext cx="15361920" cy="8732520"/>
          </a:xfrm>
          <a:prstGeom prst="roundRect">
            <a:avLst>
              <a:gd name="adj" fmla="val 4000"/>
            </a:avLst>
          </a:prstGeom>
        </p:spPr>
      </p:pic>
      <p:grpSp>
        <p:nvGrpSpPr>
          <p:cNvPr name="Group 7" id="7"/>
          <p:cNvGrpSpPr/>
          <p:nvPr/>
        </p:nvGrpSpPr>
        <p:grpSpPr>
          <a:xfrm rot="0">
            <a:off x="2258568" y="6903720"/>
            <a:ext cx="14143396" cy="2713401"/>
            <a:chOff x="0" y="0"/>
            <a:chExt cx="3463262" cy="66442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463262" cy="664425"/>
            </a:xfrm>
            <a:custGeom>
              <a:avLst/>
              <a:gdLst/>
              <a:ahLst/>
              <a:cxnLst/>
              <a:rect r="r" b="b" t="t" l="l"/>
              <a:pathLst>
                <a:path h="664425" w="3463262">
                  <a:moveTo>
                    <a:pt x="30106" y="0"/>
                  </a:moveTo>
                  <a:lnTo>
                    <a:pt x="3433156" y="0"/>
                  </a:lnTo>
                  <a:cubicBezTo>
                    <a:pt x="3449783" y="0"/>
                    <a:pt x="3463262" y="13479"/>
                    <a:pt x="3463262" y="30106"/>
                  </a:cubicBezTo>
                  <a:lnTo>
                    <a:pt x="3463262" y="634318"/>
                  </a:lnTo>
                  <a:cubicBezTo>
                    <a:pt x="3463262" y="642303"/>
                    <a:pt x="3460090" y="649961"/>
                    <a:pt x="3454444" y="655607"/>
                  </a:cubicBezTo>
                  <a:cubicBezTo>
                    <a:pt x="3448798" y="661253"/>
                    <a:pt x="3441141" y="664425"/>
                    <a:pt x="3433156" y="664425"/>
                  </a:cubicBezTo>
                  <a:lnTo>
                    <a:pt x="30106" y="664425"/>
                  </a:lnTo>
                  <a:cubicBezTo>
                    <a:pt x="13479" y="664425"/>
                    <a:pt x="0" y="650946"/>
                    <a:pt x="0" y="634318"/>
                  </a:cubicBezTo>
                  <a:lnTo>
                    <a:pt x="0" y="30106"/>
                  </a:lnTo>
                  <a:cubicBezTo>
                    <a:pt x="0" y="22122"/>
                    <a:pt x="3172" y="14464"/>
                    <a:pt x="8818" y="8818"/>
                  </a:cubicBezTo>
                  <a:cubicBezTo>
                    <a:pt x="14464" y="3172"/>
                    <a:pt x="22122" y="0"/>
                    <a:pt x="30106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463262" cy="702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2514600" y="7269480"/>
            <a:ext cx="136245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Tudo fica registrado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2444616" y="1247247"/>
            <a:ext cx="12935616" cy="0"/>
          </a:xfrm>
          <a:prstGeom prst="line">
            <a:avLst/>
          </a:prstGeom>
          <a:ln cap="rnd" w="104775">
            <a:solidFill>
              <a:srgbClr val="005D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5575829" y="7462918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5" y="0"/>
                </a:lnTo>
                <a:lnTo>
                  <a:pt x="6853225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2650305" y="9050524"/>
            <a:ext cx="17326355" cy="9375903"/>
            <a:chOff x="0" y="0"/>
            <a:chExt cx="2684306" cy="14525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5653054">
            <a:off x="11577267" y="-69147"/>
            <a:ext cx="17326355" cy="9375903"/>
            <a:chOff x="0" y="0"/>
            <a:chExt cx="2684306" cy="14525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pic>
        <p:nvPicPr>
          <p:cNvPr id="8" name="Picture 7" descr="x-011-028.jpg"/>
          <p:cNvPicPr>
            <a:picLocks noChangeAspect="1"/>
          </p:cNvPicPr>
          <p:nvPr/>
        </p:nvPicPr>
        <p:blipFill>
          <a:blip r:embed="rId5"/>
          <a:srcRect l="20646" r="20646"/>
          <a:stretch>
            <a:fillRect/>
          </a:stretch>
        </p:blipFill>
        <p:spPr>
          <a:xfrm>
            <a:off x="9144000" y="1600200"/>
            <a:ext cx="6675120" cy="7589520"/>
          </a:xfrm>
          <a:prstGeom prst="roundRect">
            <a:avLst>
              <a:gd name="adj" fmla="val 6000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280160" y="1371600"/>
            <a:ext cx="7589520" cy="7955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200" b="1">
                <a:solidFill>
                  <a:srgbClr val="2D5C58"/>
                </a:solidFill>
                <a:latin typeface="Montserrat"/>
              </a:rPr>
              <a:t>Os pais precisam ser</a:t>
            </a:r>
          </a:p>
          <a:p>
            <a:pPr algn="l">
              <a:lnSpc>
                <a:spcPct val="95000"/>
              </a:lnSpc>
            </a:pPr>
            <a:r>
              <a:rPr sz="5200" b="1">
                <a:solidFill>
                  <a:srgbClr val="69B21C"/>
                </a:solidFill>
                <a:latin typeface="Montserrat"/>
              </a:rPr>
              <a:t>filtros da realidade,</a:t>
            </a:r>
          </a:p>
          <a:p>
            <a:pPr algn="l">
              <a:lnSpc>
                <a:spcPct val="95000"/>
              </a:lnSpc>
            </a:pPr>
            <a:r>
              <a:rPr sz="5200" b="1">
                <a:solidFill>
                  <a:srgbClr val="2D5C58"/>
                </a:solidFill>
                <a:latin typeface="Montserrat"/>
              </a:rPr>
              <a:t>porque a criança é esponja e a esponja só absorve.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28245219" y="-11627394"/>
            <a:ext cx="51411091" cy="51411091"/>
          </a:xfrm>
          <a:custGeom>
            <a:avLst/>
            <a:gdLst/>
            <a:ahLst/>
            <a:cxnLst/>
            <a:rect r="r" b="b" t="t" l="l"/>
            <a:pathLst>
              <a:path h="51411091" w="51411091">
                <a:moveTo>
                  <a:pt x="0" y="0"/>
                </a:moveTo>
                <a:lnTo>
                  <a:pt x="51411092" y="0"/>
                </a:lnTo>
                <a:lnTo>
                  <a:pt x="51411092" y="51411092"/>
                </a:lnTo>
                <a:lnTo>
                  <a:pt x="0" y="51411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055258" y="6808582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98770" y="1028700"/>
            <a:ext cx="15208026" cy="8229600"/>
            <a:chOff x="0" y="0"/>
            <a:chExt cx="2684306" cy="14525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30035" y="0"/>
                  </a:moveTo>
                  <a:lnTo>
                    <a:pt x="2654271" y="0"/>
                  </a:lnTo>
                  <a:cubicBezTo>
                    <a:pt x="2670859" y="0"/>
                    <a:pt x="2684306" y="13447"/>
                    <a:pt x="2684306" y="30035"/>
                  </a:cubicBezTo>
                  <a:lnTo>
                    <a:pt x="2684306" y="1422538"/>
                  </a:lnTo>
                  <a:cubicBezTo>
                    <a:pt x="2684306" y="1430503"/>
                    <a:pt x="2681141" y="1438143"/>
                    <a:pt x="2675509" y="1443776"/>
                  </a:cubicBezTo>
                  <a:cubicBezTo>
                    <a:pt x="2669876" y="1449408"/>
                    <a:pt x="2662237" y="1452573"/>
                    <a:pt x="2654271" y="1452573"/>
                  </a:cubicBezTo>
                  <a:lnTo>
                    <a:pt x="30035" y="1452573"/>
                  </a:lnTo>
                  <a:cubicBezTo>
                    <a:pt x="13447" y="1452573"/>
                    <a:pt x="0" y="1439126"/>
                    <a:pt x="0" y="1422538"/>
                  </a:cubicBezTo>
                  <a:lnTo>
                    <a:pt x="0" y="30035"/>
                  </a:lnTo>
                  <a:cubicBezTo>
                    <a:pt x="0" y="13447"/>
                    <a:pt x="13447" y="0"/>
                    <a:pt x="3003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2376814" y="1205219"/>
            <a:ext cx="14035496" cy="2299902"/>
            <a:chOff x="0" y="0"/>
            <a:chExt cx="3436841" cy="5631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36841" cy="563172"/>
            </a:xfrm>
            <a:custGeom>
              <a:avLst/>
              <a:gdLst/>
              <a:ahLst/>
              <a:cxnLst/>
              <a:rect r="r" b="b" t="t" l="l"/>
              <a:pathLst>
                <a:path h="563172" w="3436841">
                  <a:moveTo>
                    <a:pt x="30338" y="0"/>
                  </a:moveTo>
                  <a:lnTo>
                    <a:pt x="3406503" y="0"/>
                  </a:lnTo>
                  <a:cubicBezTo>
                    <a:pt x="3414549" y="0"/>
                    <a:pt x="3422266" y="3196"/>
                    <a:pt x="3427955" y="8886"/>
                  </a:cubicBezTo>
                  <a:cubicBezTo>
                    <a:pt x="3433645" y="14575"/>
                    <a:pt x="3436841" y="22292"/>
                    <a:pt x="3436841" y="30338"/>
                  </a:cubicBezTo>
                  <a:lnTo>
                    <a:pt x="3436841" y="532834"/>
                  </a:lnTo>
                  <a:cubicBezTo>
                    <a:pt x="3436841" y="540880"/>
                    <a:pt x="3433645" y="548597"/>
                    <a:pt x="3427955" y="554286"/>
                  </a:cubicBezTo>
                  <a:cubicBezTo>
                    <a:pt x="3422266" y="559976"/>
                    <a:pt x="3414549" y="563172"/>
                    <a:pt x="3406503" y="563172"/>
                  </a:cubicBezTo>
                  <a:lnTo>
                    <a:pt x="30338" y="563172"/>
                  </a:lnTo>
                  <a:cubicBezTo>
                    <a:pt x="22292" y="563172"/>
                    <a:pt x="14575" y="559976"/>
                    <a:pt x="8886" y="554286"/>
                  </a:cubicBezTo>
                  <a:cubicBezTo>
                    <a:pt x="3196" y="548597"/>
                    <a:pt x="0" y="540880"/>
                    <a:pt x="0" y="532834"/>
                  </a:cubicBezTo>
                  <a:lnTo>
                    <a:pt x="0" y="30338"/>
                  </a:lnTo>
                  <a:cubicBezTo>
                    <a:pt x="0" y="22292"/>
                    <a:pt x="3196" y="14575"/>
                    <a:pt x="8886" y="8886"/>
                  </a:cubicBezTo>
                  <a:cubicBezTo>
                    <a:pt x="14575" y="3196"/>
                    <a:pt x="22292" y="0"/>
                    <a:pt x="30338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436841" cy="6012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743200" y="1325880"/>
            <a:ext cx="13350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5400" b="1">
                <a:solidFill>
                  <a:srgbClr val="FFFFFF"/>
                </a:solidFill>
                <a:latin typeface="Montserrat"/>
              </a:rPr>
              <a:t>Nossos filhos estão sendo criados</a:t>
            </a:r>
          </a:p>
          <a:p>
            <a:pPr algn="ctr">
              <a:lnSpc>
                <a:spcPct val="90000"/>
              </a:lnSpc>
            </a:pPr>
            <a:r>
              <a:rPr sz="5400" b="1">
                <a:solidFill>
                  <a:srgbClr val="FFFFFF"/>
                </a:solidFill>
                <a:latin typeface="Montserrat"/>
              </a:rPr>
              <a:t>com os valores que consomem…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703320"/>
            <a:ext cx="13624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0263BA"/>
                </a:solidFill>
                <a:latin typeface="Montserrat"/>
              </a:rPr>
              <a:t>YouTubers, games, redes sociais, celular…</a:t>
            </a:r>
          </a:p>
        </p:txBody>
      </p:sp>
      <p:pic>
        <p:nvPicPr>
          <p:cNvPr id="14" name="Picture 13" descr="x-012-031.jpg"/>
          <p:cNvPicPr>
            <a:picLocks noChangeAspect="1"/>
          </p:cNvPicPr>
          <p:nvPr/>
        </p:nvPicPr>
        <p:blipFill>
          <a:blip r:embed="rId4"/>
          <a:srcRect l="21974" r="21974"/>
          <a:stretch>
            <a:fillRect/>
          </a:stretch>
        </p:blipFill>
        <p:spPr>
          <a:xfrm>
            <a:off x="2377440" y="4572000"/>
            <a:ext cx="4328160" cy="4343400"/>
          </a:xfrm>
          <a:prstGeom prst="roundRect">
            <a:avLst>
              <a:gd name="adj" fmla="val 6000"/>
            </a:avLst>
          </a:prstGeom>
        </p:spPr>
      </p:pic>
      <p:pic>
        <p:nvPicPr>
          <p:cNvPr id="15" name="Picture 14" descr="x-012-032.jpg"/>
          <p:cNvPicPr>
            <a:picLocks noChangeAspect="1"/>
          </p:cNvPicPr>
          <p:nvPr/>
        </p:nvPicPr>
        <p:blipFill>
          <a:blip r:embed="rId5"/>
          <a:srcRect l="16773" r="16773"/>
          <a:stretch>
            <a:fillRect/>
          </a:stretch>
        </p:blipFill>
        <p:spPr>
          <a:xfrm>
            <a:off x="7025640" y="4572000"/>
            <a:ext cx="4328160" cy="4343400"/>
          </a:xfrm>
          <a:prstGeom prst="roundRect">
            <a:avLst>
              <a:gd name="adj" fmla="val 6000"/>
            </a:avLst>
          </a:prstGeom>
        </p:spPr>
      </p:pic>
      <p:pic>
        <p:nvPicPr>
          <p:cNvPr id="16" name="Picture 15" descr="x-012-033.jpg"/>
          <p:cNvPicPr>
            <a:picLocks noChangeAspect="1"/>
          </p:cNvPicPr>
          <p:nvPr/>
        </p:nvPicPr>
        <p:blipFill>
          <a:blip r:embed="rId6"/>
          <a:srcRect l="16773" r="16773"/>
          <a:stretch>
            <a:fillRect/>
          </a:stretch>
        </p:blipFill>
        <p:spPr>
          <a:xfrm>
            <a:off x="11673840" y="4572000"/>
            <a:ext cx="4328160" cy="4343400"/>
          </a:xfrm>
          <a:prstGeom prst="roundRect">
            <a:avLst>
              <a:gd name="adj" fmla="val 6000"/>
            </a:avLst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5916258" y="3290594"/>
            <a:ext cx="992106" cy="1053394"/>
          </a:xfrm>
          <a:custGeom>
            <a:avLst/>
            <a:gdLst/>
            <a:ahLst/>
            <a:cxnLst/>
            <a:rect r="r" b="b" t="t" l="l"/>
            <a:pathLst>
              <a:path h="1053394" w="992106">
                <a:moveTo>
                  <a:pt x="0" y="0"/>
                </a:moveTo>
                <a:lnTo>
                  <a:pt x="992106" y="0"/>
                </a:lnTo>
                <a:lnTo>
                  <a:pt x="992106" y="1053395"/>
                </a:lnTo>
                <a:lnTo>
                  <a:pt x="0" y="1053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5" id="5"/>
          <p:cNvSpPr/>
          <p:nvPr/>
        </p:nvSpPr>
        <p:spPr>
          <a:xfrm flipH="false" flipV="false" rot="1383930">
            <a:off x="-4511309" y="2899050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383930">
            <a:off x="13591777" y="548069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383930">
            <a:off x="13318875" y="-451130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7" y="0"/>
                </a:lnTo>
                <a:lnTo>
                  <a:pt x="9022617" y="9022618"/>
                </a:lnTo>
                <a:lnTo>
                  <a:pt x="0" y="90226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2" name="Picture 11" descr="x-013-036.jpg"/>
          <p:cNvPicPr>
            <a:picLocks noChangeAspect="1"/>
          </p:cNvPicPr>
          <p:nvPr/>
        </p:nvPicPr>
        <p:blipFill>
          <a:blip r:embed="rId10"/>
          <a:srcRect t="6146" b="6146"/>
          <a:stretch>
            <a:fillRect/>
          </a:stretch>
        </p:blipFill>
        <p:spPr>
          <a:xfrm>
            <a:off x="1463040" y="777240"/>
            <a:ext cx="15361920" cy="873252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5916258" y="3290594"/>
            <a:ext cx="992106" cy="1053394"/>
          </a:xfrm>
          <a:custGeom>
            <a:avLst/>
            <a:gdLst/>
            <a:ahLst/>
            <a:cxnLst/>
            <a:rect r="r" b="b" t="t" l="l"/>
            <a:pathLst>
              <a:path h="1053394" w="992106">
                <a:moveTo>
                  <a:pt x="0" y="0"/>
                </a:moveTo>
                <a:lnTo>
                  <a:pt x="992106" y="0"/>
                </a:lnTo>
                <a:lnTo>
                  <a:pt x="992106" y="1053395"/>
                </a:lnTo>
                <a:lnTo>
                  <a:pt x="0" y="1053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5" id="5"/>
          <p:cNvSpPr/>
          <p:nvPr/>
        </p:nvSpPr>
        <p:spPr>
          <a:xfrm flipH="false" flipV="false" rot="1383930">
            <a:off x="-4511309" y="2899050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383930">
            <a:off x="13591777" y="548069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383930">
            <a:off x="13318875" y="-451130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7" y="0"/>
                </a:lnTo>
                <a:lnTo>
                  <a:pt x="9022617" y="9022618"/>
                </a:lnTo>
                <a:lnTo>
                  <a:pt x="0" y="90226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2" name="Picture 11" descr="x-014-039.jpg"/>
          <p:cNvPicPr>
            <a:picLocks noChangeAspect="1"/>
          </p:cNvPicPr>
          <p:nvPr/>
        </p:nvPicPr>
        <p:blipFill>
          <a:blip r:embed="rId10"/>
          <a:srcRect t="7379" b="7379"/>
          <a:stretch>
            <a:fillRect/>
          </a:stretch>
        </p:blipFill>
        <p:spPr>
          <a:xfrm>
            <a:off x="1463040" y="777240"/>
            <a:ext cx="15361920" cy="8732520"/>
          </a:xfrm>
          <a:prstGeom prst="roundRect">
            <a:avLst>
              <a:gd name="adj" fmla="val 4000"/>
            </a:avLst>
          </a:prstGeom>
        </p:spPr>
      </p:pic>
      <p:grpSp>
        <p:nvGrpSpPr>
          <p:cNvPr name="Group 7" id="7"/>
          <p:cNvGrpSpPr/>
          <p:nvPr/>
        </p:nvGrpSpPr>
        <p:grpSpPr>
          <a:xfrm rot="0">
            <a:off x="2258568" y="6903720"/>
            <a:ext cx="14143396" cy="2713401"/>
            <a:chOff x="0" y="0"/>
            <a:chExt cx="3463262" cy="66442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463262" cy="664425"/>
            </a:xfrm>
            <a:custGeom>
              <a:avLst/>
              <a:gdLst/>
              <a:ahLst/>
              <a:cxnLst/>
              <a:rect r="r" b="b" t="t" l="l"/>
              <a:pathLst>
                <a:path h="664425" w="3463262">
                  <a:moveTo>
                    <a:pt x="30106" y="0"/>
                  </a:moveTo>
                  <a:lnTo>
                    <a:pt x="3433156" y="0"/>
                  </a:lnTo>
                  <a:cubicBezTo>
                    <a:pt x="3449783" y="0"/>
                    <a:pt x="3463262" y="13479"/>
                    <a:pt x="3463262" y="30106"/>
                  </a:cubicBezTo>
                  <a:lnTo>
                    <a:pt x="3463262" y="634318"/>
                  </a:lnTo>
                  <a:cubicBezTo>
                    <a:pt x="3463262" y="642303"/>
                    <a:pt x="3460090" y="649961"/>
                    <a:pt x="3454444" y="655607"/>
                  </a:cubicBezTo>
                  <a:cubicBezTo>
                    <a:pt x="3448798" y="661253"/>
                    <a:pt x="3441141" y="664425"/>
                    <a:pt x="3433156" y="664425"/>
                  </a:cubicBezTo>
                  <a:lnTo>
                    <a:pt x="30106" y="664425"/>
                  </a:lnTo>
                  <a:cubicBezTo>
                    <a:pt x="13479" y="664425"/>
                    <a:pt x="0" y="650946"/>
                    <a:pt x="0" y="634318"/>
                  </a:cubicBezTo>
                  <a:lnTo>
                    <a:pt x="0" y="30106"/>
                  </a:lnTo>
                  <a:cubicBezTo>
                    <a:pt x="0" y="22122"/>
                    <a:pt x="3172" y="14464"/>
                    <a:pt x="8818" y="8818"/>
                  </a:cubicBezTo>
                  <a:cubicBezTo>
                    <a:pt x="14464" y="3172"/>
                    <a:pt x="22122" y="0"/>
                    <a:pt x="30106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463262" cy="702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2514600" y="7269480"/>
            <a:ext cx="136245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Montserrat"/>
              </a:rPr>
              <a:t>QUAL É A SUA LENTE?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-2576713" y="6560989"/>
            <a:ext cx="17326355" cy="9375903"/>
            <a:chOff x="0" y="0"/>
            <a:chExt cx="2684306" cy="14525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2"/>
              <a:stretch>
                <a:fillRect l="-21437" t="0" r="-21437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26740" y="1185989"/>
            <a:ext cx="8394924" cy="8696037"/>
            <a:chOff x="0" y="0"/>
            <a:chExt cx="2211009" cy="22903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11009" cy="2290314"/>
            </a:xfrm>
            <a:custGeom>
              <a:avLst/>
              <a:gdLst/>
              <a:ahLst/>
              <a:cxnLst/>
              <a:rect r="r" b="b" t="t" l="l"/>
              <a:pathLst>
                <a:path h="2290314" w="2211009">
                  <a:moveTo>
                    <a:pt x="47033" y="0"/>
                  </a:moveTo>
                  <a:lnTo>
                    <a:pt x="2163976" y="0"/>
                  </a:lnTo>
                  <a:cubicBezTo>
                    <a:pt x="2176450" y="0"/>
                    <a:pt x="2188413" y="4955"/>
                    <a:pt x="2197233" y="13776"/>
                  </a:cubicBezTo>
                  <a:cubicBezTo>
                    <a:pt x="2206054" y="22596"/>
                    <a:pt x="2211009" y="34559"/>
                    <a:pt x="2211009" y="47033"/>
                  </a:cubicBezTo>
                  <a:lnTo>
                    <a:pt x="2211009" y="2243281"/>
                  </a:lnTo>
                  <a:cubicBezTo>
                    <a:pt x="2211009" y="2269257"/>
                    <a:pt x="2189951" y="2290314"/>
                    <a:pt x="2163976" y="2290314"/>
                  </a:cubicBezTo>
                  <a:lnTo>
                    <a:pt x="47033" y="2290314"/>
                  </a:lnTo>
                  <a:cubicBezTo>
                    <a:pt x="21057" y="2290314"/>
                    <a:pt x="0" y="2269257"/>
                    <a:pt x="0" y="2243281"/>
                  </a:cubicBezTo>
                  <a:lnTo>
                    <a:pt x="0" y="47033"/>
                  </a:lnTo>
                  <a:cubicBezTo>
                    <a:pt x="0" y="21057"/>
                    <a:pt x="21057" y="0"/>
                    <a:pt x="470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211009" cy="23284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name="AutoShape 9" id="9"/>
          <p:cNvSpPr/>
          <p:nvPr/>
        </p:nvSpPr>
        <p:spPr>
          <a:xfrm>
            <a:off x="1329162" y="655191"/>
            <a:ext cx="15385004" cy="0"/>
          </a:xfrm>
          <a:prstGeom prst="line">
            <a:avLst/>
          </a:prstGeom>
          <a:ln cap="rnd" w="104775">
            <a:solidFill>
              <a:srgbClr val="40429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-3198028" y="7695399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1" name="Picture 10" descr="x-015-042.jpg"/>
          <p:cNvPicPr>
            <a:picLocks noChangeAspect="1"/>
          </p:cNvPicPr>
          <p:nvPr/>
        </p:nvPicPr>
        <p:blipFill>
          <a:blip r:embed="rId5"/>
          <a:srcRect l="16445" r="16445"/>
          <a:stretch>
            <a:fillRect/>
          </a:stretch>
        </p:blipFill>
        <p:spPr>
          <a:xfrm>
            <a:off x="9336024" y="1188720"/>
            <a:ext cx="8503920" cy="8695944"/>
          </a:xfrm>
          <a:prstGeom prst="roundRect">
            <a:avLst>
              <a:gd name="adj" fmla="val 4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1463040"/>
            <a:ext cx="7452360" cy="8138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0" b="1">
                <a:solidFill>
                  <a:srgbClr val="FFFFFF"/>
                </a:solidFill>
                <a:latin typeface="Montserrat"/>
              </a:rPr>
              <a:t>Você é</a:t>
            </a:r>
          </a:p>
          <a:p>
            <a:pPr algn="ctr">
              <a:lnSpc>
                <a:spcPct val="95000"/>
              </a:lnSpc>
            </a:pPr>
            <a:r>
              <a:rPr sz="10000" b="1">
                <a:solidFill>
                  <a:srgbClr val="85C227"/>
                </a:solidFill>
                <a:latin typeface="Montserrat"/>
              </a:rPr>
              <a:t>o filtro!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28245219" y="-11627394"/>
            <a:ext cx="51411091" cy="51411091"/>
          </a:xfrm>
          <a:custGeom>
            <a:avLst/>
            <a:gdLst/>
            <a:ahLst/>
            <a:cxnLst/>
            <a:rect r="r" b="b" t="t" l="l"/>
            <a:pathLst>
              <a:path h="51411091" w="51411091">
                <a:moveTo>
                  <a:pt x="0" y="0"/>
                </a:moveTo>
                <a:lnTo>
                  <a:pt x="51411092" y="0"/>
                </a:lnTo>
                <a:lnTo>
                  <a:pt x="51411092" y="51411092"/>
                </a:lnTo>
                <a:lnTo>
                  <a:pt x="0" y="51411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055258" y="6808582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98770" y="1028700"/>
            <a:ext cx="15208026" cy="8229600"/>
            <a:chOff x="0" y="0"/>
            <a:chExt cx="2684306" cy="14525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30035" y="0"/>
                  </a:moveTo>
                  <a:lnTo>
                    <a:pt x="2654271" y="0"/>
                  </a:lnTo>
                  <a:cubicBezTo>
                    <a:pt x="2670859" y="0"/>
                    <a:pt x="2684306" y="13447"/>
                    <a:pt x="2684306" y="30035"/>
                  </a:cubicBezTo>
                  <a:lnTo>
                    <a:pt x="2684306" y="1422538"/>
                  </a:lnTo>
                  <a:cubicBezTo>
                    <a:pt x="2684306" y="1430503"/>
                    <a:pt x="2681141" y="1438143"/>
                    <a:pt x="2675509" y="1443776"/>
                  </a:cubicBezTo>
                  <a:cubicBezTo>
                    <a:pt x="2669876" y="1449408"/>
                    <a:pt x="2662237" y="1452573"/>
                    <a:pt x="2654271" y="1452573"/>
                  </a:cubicBezTo>
                  <a:lnTo>
                    <a:pt x="30035" y="1452573"/>
                  </a:lnTo>
                  <a:cubicBezTo>
                    <a:pt x="13447" y="1452573"/>
                    <a:pt x="0" y="1439126"/>
                    <a:pt x="0" y="1422538"/>
                  </a:cubicBezTo>
                  <a:lnTo>
                    <a:pt x="0" y="30035"/>
                  </a:lnTo>
                  <a:cubicBezTo>
                    <a:pt x="0" y="13447"/>
                    <a:pt x="13447" y="0"/>
                    <a:pt x="3003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2376814" y="1205219"/>
            <a:ext cx="14035496" cy="2299902"/>
            <a:chOff x="0" y="0"/>
            <a:chExt cx="3436841" cy="5631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36841" cy="563172"/>
            </a:xfrm>
            <a:custGeom>
              <a:avLst/>
              <a:gdLst/>
              <a:ahLst/>
              <a:cxnLst/>
              <a:rect r="r" b="b" t="t" l="l"/>
              <a:pathLst>
                <a:path h="563172" w="3436841">
                  <a:moveTo>
                    <a:pt x="30338" y="0"/>
                  </a:moveTo>
                  <a:lnTo>
                    <a:pt x="3406503" y="0"/>
                  </a:lnTo>
                  <a:cubicBezTo>
                    <a:pt x="3414549" y="0"/>
                    <a:pt x="3422266" y="3196"/>
                    <a:pt x="3427955" y="8886"/>
                  </a:cubicBezTo>
                  <a:cubicBezTo>
                    <a:pt x="3433645" y="14575"/>
                    <a:pt x="3436841" y="22292"/>
                    <a:pt x="3436841" y="30338"/>
                  </a:cubicBezTo>
                  <a:lnTo>
                    <a:pt x="3436841" y="532834"/>
                  </a:lnTo>
                  <a:cubicBezTo>
                    <a:pt x="3436841" y="540880"/>
                    <a:pt x="3433645" y="548597"/>
                    <a:pt x="3427955" y="554286"/>
                  </a:cubicBezTo>
                  <a:cubicBezTo>
                    <a:pt x="3422266" y="559976"/>
                    <a:pt x="3414549" y="563172"/>
                    <a:pt x="3406503" y="563172"/>
                  </a:cubicBezTo>
                  <a:lnTo>
                    <a:pt x="30338" y="563172"/>
                  </a:lnTo>
                  <a:cubicBezTo>
                    <a:pt x="22292" y="563172"/>
                    <a:pt x="14575" y="559976"/>
                    <a:pt x="8886" y="554286"/>
                  </a:cubicBezTo>
                  <a:cubicBezTo>
                    <a:pt x="3196" y="548597"/>
                    <a:pt x="0" y="540880"/>
                    <a:pt x="0" y="532834"/>
                  </a:cubicBezTo>
                  <a:lnTo>
                    <a:pt x="0" y="30338"/>
                  </a:lnTo>
                  <a:cubicBezTo>
                    <a:pt x="0" y="22292"/>
                    <a:pt x="3196" y="14575"/>
                    <a:pt x="8886" y="8886"/>
                  </a:cubicBezTo>
                  <a:cubicBezTo>
                    <a:pt x="14575" y="3196"/>
                    <a:pt x="22292" y="0"/>
                    <a:pt x="30338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436841" cy="6012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743200" y="1325880"/>
            <a:ext cx="13350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Presente não substitui presença!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794760"/>
            <a:ext cx="80467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300" b="1">
                <a:solidFill>
                  <a:srgbClr val="0263BA"/>
                </a:solidFill>
                <a:latin typeface="Montserrat"/>
              </a:rPr>
              <a:t>Você trabalha, trabalha, trabalha…</a:t>
            </a:r>
          </a:p>
          <a:p>
            <a:pPr algn="l">
              <a:lnSpc>
                <a:spcPct val="95000"/>
              </a:lnSpc>
            </a:pPr>
            <a:r>
              <a:rPr sz="4300" b="1">
                <a:solidFill>
                  <a:srgbClr val="0263BA"/>
                </a:solidFill>
                <a:latin typeface="Montserrat"/>
              </a:rPr>
              <a:t>Quer dar o melhor, sonha em levar pra Disney…</a:t>
            </a:r>
          </a:p>
          <a:p>
            <a:pPr algn="l">
              <a:lnSpc>
                <a:spcPct val="95000"/>
              </a:lnSpc>
            </a:pPr>
            <a:r>
              <a:rPr sz="2000"/>
              <a:t/>
            </a:r>
          </a:p>
          <a:p>
            <a:pPr algn="l">
              <a:lnSpc>
                <a:spcPct val="95000"/>
              </a:lnSpc>
            </a:pPr>
            <a:r>
              <a:rPr sz="4300" b="1">
                <a:solidFill>
                  <a:srgbClr val="2D5C58"/>
                </a:solidFill>
                <a:latin typeface="Montserrat"/>
              </a:rPr>
              <a:t>Mas…</a:t>
            </a:r>
          </a:p>
          <a:p>
            <a:pPr algn="l">
              <a:lnSpc>
                <a:spcPct val="95000"/>
              </a:lnSpc>
            </a:pPr>
            <a:r>
              <a:rPr sz="4300" b="1">
                <a:solidFill>
                  <a:srgbClr val="2D5C58"/>
                </a:solidFill>
                <a:latin typeface="Montserrat"/>
              </a:rPr>
              <a:t>Quem está em casa ensinando o que é certo e errado?</a:t>
            </a:r>
          </a:p>
        </p:txBody>
      </p:sp>
      <p:pic>
        <p:nvPicPr>
          <p:cNvPr id="14" name="Picture 13" descr="x-016-045.jpg"/>
          <p:cNvPicPr>
            <a:picLocks noChangeAspect="1"/>
          </p:cNvPicPr>
          <p:nvPr/>
        </p:nvPicPr>
        <p:blipFill>
          <a:blip r:embed="rId4"/>
          <a:srcRect t="17241" b="17241"/>
          <a:stretch>
            <a:fillRect/>
          </a:stretch>
        </p:blipFill>
        <p:spPr>
          <a:xfrm>
            <a:off x="10789920" y="3794760"/>
            <a:ext cx="5212080" cy="5120640"/>
          </a:xfrm>
          <a:prstGeom prst="roundRect">
            <a:avLst>
              <a:gd name="adj" fmla="val 6000"/>
            </a:avLst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2463108" y="976312"/>
            <a:ext cx="12935616" cy="0"/>
          </a:xfrm>
          <a:prstGeom prst="line">
            <a:avLst/>
          </a:prstGeom>
          <a:ln cap="rnd" w="104775">
            <a:solidFill>
              <a:srgbClr val="85C22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3480300" y="-4431871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1750525" y="7862825"/>
            <a:ext cx="17326355" cy="9375903"/>
            <a:chOff x="0" y="0"/>
            <a:chExt cx="2684306" cy="14525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5653054">
            <a:off x="8998781" y="-748616"/>
            <a:ext cx="17326355" cy="9375903"/>
            <a:chOff x="0" y="0"/>
            <a:chExt cx="2684306" cy="14525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pic>
        <p:nvPicPr>
          <p:cNvPr id="8" name="Picture 7" descr="x-017-050.jpg"/>
          <p:cNvPicPr>
            <a:picLocks noChangeAspect="1"/>
          </p:cNvPicPr>
          <p:nvPr/>
        </p:nvPicPr>
        <p:blipFill>
          <a:blip r:embed="rId5"/>
          <a:srcRect l="20674" r="20674"/>
          <a:stretch>
            <a:fillRect/>
          </a:stretch>
        </p:blipFill>
        <p:spPr>
          <a:xfrm>
            <a:off x="9144000" y="1600200"/>
            <a:ext cx="6675120" cy="7589520"/>
          </a:xfrm>
          <a:prstGeom prst="roundRect">
            <a:avLst>
              <a:gd name="adj" fmla="val 6000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280160" y="1371600"/>
            <a:ext cx="7589520" cy="7955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000" b="1">
                <a:solidFill>
                  <a:srgbClr val="2D5C58"/>
                </a:solidFill>
                <a:latin typeface="Montserrat"/>
              </a:rPr>
              <a:t>Aí você chega em casa e dá o celular para ter paz…</a:t>
            </a:r>
          </a:p>
          <a:p>
            <a:pPr algn="l">
              <a:lnSpc>
                <a:spcPct val="95000"/>
              </a:lnSpc>
            </a:pPr>
            <a:r>
              <a:rPr sz="2000"/>
              <a:t/>
            </a:r>
          </a:p>
          <a:p>
            <a:pPr algn="l">
              <a:lnSpc>
                <a:spcPct val="95000"/>
              </a:lnSpc>
            </a:pPr>
            <a:r>
              <a:rPr sz="5000" b="1">
                <a:solidFill>
                  <a:srgbClr val="0263BA"/>
                </a:solidFill>
                <a:latin typeface="Montserrat"/>
              </a:rPr>
              <a:t>e nessa você perde a oportunidade de ensinar valores.</a:t>
            </a:r>
          </a:p>
          <a:p>
            <a:pPr algn="l">
              <a:lnSpc>
                <a:spcPct val="95000"/>
              </a:lnSpc>
            </a:pPr>
            <a:r>
              <a:rPr sz="2000"/>
              <a:t/>
            </a:r>
          </a:p>
          <a:p>
            <a:pPr algn="l">
              <a:lnSpc>
                <a:spcPct val="95000"/>
              </a:lnSpc>
            </a:pPr>
            <a:r>
              <a:rPr sz="5000" b="1">
                <a:solidFill>
                  <a:srgbClr val="69B21C"/>
                </a:solidFill>
                <a:latin typeface="Montserrat"/>
              </a:rPr>
              <a:t>De se fazer presente!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-2576713" y="6560989"/>
            <a:ext cx="17326355" cy="9375903"/>
            <a:chOff x="0" y="0"/>
            <a:chExt cx="2684306" cy="14525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2"/>
              <a:stretch>
                <a:fillRect l="-21437" t="0" r="-21437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26740" y="1185989"/>
            <a:ext cx="8394924" cy="8696037"/>
            <a:chOff x="0" y="0"/>
            <a:chExt cx="2211009" cy="229031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11009" cy="2290314"/>
            </a:xfrm>
            <a:custGeom>
              <a:avLst/>
              <a:gdLst/>
              <a:ahLst/>
              <a:cxnLst/>
              <a:rect r="r" b="b" t="t" l="l"/>
              <a:pathLst>
                <a:path h="2290314" w="2211009">
                  <a:moveTo>
                    <a:pt x="47033" y="0"/>
                  </a:moveTo>
                  <a:lnTo>
                    <a:pt x="2163976" y="0"/>
                  </a:lnTo>
                  <a:cubicBezTo>
                    <a:pt x="2176450" y="0"/>
                    <a:pt x="2188413" y="4955"/>
                    <a:pt x="2197233" y="13776"/>
                  </a:cubicBezTo>
                  <a:cubicBezTo>
                    <a:pt x="2206054" y="22596"/>
                    <a:pt x="2211009" y="34559"/>
                    <a:pt x="2211009" y="47033"/>
                  </a:cubicBezTo>
                  <a:lnTo>
                    <a:pt x="2211009" y="2243281"/>
                  </a:lnTo>
                  <a:cubicBezTo>
                    <a:pt x="2211009" y="2269257"/>
                    <a:pt x="2189951" y="2290314"/>
                    <a:pt x="2163976" y="2290314"/>
                  </a:cubicBezTo>
                  <a:lnTo>
                    <a:pt x="47033" y="2290314"/>
                  </a:lnTo>
                  <a:cubicBezTo>
                    <a:pt x="21057" y="2290314"/>
                    <a:pt x="0" y="2269257"/>
                    <a:pt x="0" y="2243281"/>
                  </a:cubicBezTo>
                  <a:lnTo>
                    <a:pt x="0" y="47033"/>
                  </a:lnTo>
                  <a:cubicBezTo>
                    <a:pt x="0" y="21057"/>
                    <a:pt x="21057" y="0"/>
                    <a:pt x="470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2211009" cy="23284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name="AutoShape 9" id="9"/>
          <p:cNvSpPr/>
          <p:nvPr/>
        </p:nvSpPr>
        <p:spPr>
          <a:xfrm>
            <a:off x="1329162" y="655191"/>
            <a:ext cx="15385004" cy="0"/>
          </a:xfrm>
          <a:prstGeom prst="line">
            <a:avLst/>
          </a:prstGeom>
          <a:ln cap="rnd" w="104775">
            <a:solidFill>
              <a:srgbClr val="40429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-3198028" y="7695399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1" name="Picture 10" descr="x-018-051.jpg"/>
          <p:cNvPicPr>
            <a:picLocks noChangeAspect="1"/>
          </p:cNvPicPr>
          <p:nvPr/>
        </p:nvPicPr>
        <p:blipFill>
          <a:blip r:embed="rId5"/>
          <a:srcRect t="15935" b="15935"/>
          <a:stretch>
            <a:fillRect/>
          </a:stretch>
        </p:blipFill>
        <p:spPr>
          <a:xfrm>
            <a:off x="9336024" y="1188720"/>
            <a:ext cx="8503920" cy="8695944"/>
          </a:xfrm>
          <a:prstGeom prst="roundRect">
            <a:avLst>
              <a:gd name="adj" fmla="val 4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1463040"/>
            <a:ext cx="7452360" cy="8138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0" b="1">
                <a:solidFill>
                  <a:srgbClr val="FFFFFF"/>
                </a:solidFill>
                <a:latin typeface="Montserrat"/>
              </a:rPr>
              <a:t>Construa seu filho</a:t>
            </a:r>
          </a:p>
          <a:p>
            <a:pPr algn="ctr">
              <a:lnSpc>
                <a:spcPct val="95000"/>
              </a:lnSpc>
            </a:pPr>
            <a:r>
              <a:rPr sz="7000" b="1">
                <a:solidFill>
                  <a:srgbClr val="FFFFFF"/>
                </a:solidFill>
                <a:latin typeface="Montserrat"/>
              </a:rPr>
              <a:t>com</a:t>
            </a:r>
          </a:p>
          <a:p>
            <a:pPr algn="ctr">
              <a:lnSpc>
                <a:spcPct val="95000"/>
              </a:lnSpc>
            </a:pPr>
            <a:r>
              <a:rPr sz="5500" b="1">
                <a:solidFill>
                  <a:srgbClr val="85C227"/>
                </a:solidFill>
                <a:latin typeface="Montserrat"/>
              </a:rPr>
              <a:t>intencionalidade!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-8685059">
            <a:off x="-5724412" y="5158795"/>
            <a:ext cx="15469832" cy="8199011"/>
          </a:xfrm>
          <a:custGeom>
            <a:avLst/>
            <a:gdLst/>
            <a:ahLst/>
            <a:cxnLst/>
            <a:rect r="r" b="b" t="t" l="l"/>
            <a:pathLst>
              <a:path h="8199011" w="15469832">
                <a:moveTo>
                  <a:pt x="0" y="0"/>
                </a:moveTo>
                <a:lnTo>
                  <a:pt x="15469832" y="0"/>
                </a:lnTo>
                <a:lnTo>
                  <a:pt x="15469832" y="8199010"/>
                </a:lnTo>
                <a:lnTo>
                  <a:pt x="0" y="8199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3685244" y="6746984"/>
            <a:ext cx="17326355" cy="937590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48336" y="1214062"/>
            <a:ext cx="8394924" cy="7366000"/>
            <a:chOff x="0" y="0"/>
            <a:chExt cx="2211009" cy="19400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11009" cy="1940016"/>
            </a:xfrm>
            <a:custGeom>
              <a:avLst/>
              <a:gdLst/>
              <a:ahLst/>
              <a:cxnLst/>
              <a:rect r="r" b="b" t="t" l="l"/>
              <a:pathLst>
                <a:path h="1940016" w="2211009">
                  <a:moveTo>
                    <a:pt x="47033" y="0"/>
                  </a:moveTo>
                  <a:lnTo>
                    <a:pt x="2163976" y="0"/>
                  </a:lnTo>
                  <a:cubicBezTo>
                    <a:pt x="2176450" y="0"/>
                    <a:pt x="2188413" y="4955"/>
                    <a:pt x="2197233" y="13776"/>
                  </a:cubicBezTo>
                  <a:cubicBezTo>
                    <a:pt x="2206054" y="22596"/>
                    <a:pt x="2211009" y="34559"/>
                    <a:pt x="2211009" y="47033"/>
                  </a:cubicBezTo>
                  <a:lnTo>
                    <a:pt x="2211009" y="1892983"/>
                  </a:lnTo>
                  <a:cubicBezTo>
                    <a:pt x="2211009" y="1918959"/>
                    <a:pt x="2189951" y="1940016"/>
                    <a:pt x="2163976" y="1940016"/>
                  </a:cubicBezTo>
                  <a:lnTo>
                    <a:pt x="47033" y="1940016"/>
                  </a:lnTo>
                  <a:cubicBezTo>
                    <a:pt x="21057" y="1940016"/>
                    <a:pt x="0" y="1918959"/>
                    <a:pt x="0" y="1892983"/>
                  </a:cubicBezTo>
                  <a:lnTo>
                    <a:pt x="0" y="47033"/>
                  </a:lnTo>
                  <a:cubicBezTo>
                    <a:pt x="0" y="21057"/>
                    <a:pt x="21057" y="0"/>
                    <a:pt x="47033" y="0"/>
                  </a:cubicBezTo>
                  <a:close/>
                </a:path>
              </a:pathLst>
            </a:custGeom>
            <a:solidFill>
              <a:srgbClr val="2D5C5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211009" cy="19781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name="AutoShape 9" id="9"/>
          <p:cNvSpPr/>
          <p:nvPr/>
        </p:nvSpPr>
        <p:spPr>
          <a:xfrm>
            <a:off x="1329162" y="655191"/>
            <a:ext cx="15385004" cy="0"/>
          </a:xfrm>
          <a:prstGeom prst="line">
            <a:avLst/>
          </a:prstGeom>
          <a:ln cap="rnd" w="104775">
            <a:solidFill>
              <a:srgbClr val="005D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-1691715" y="6476523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5"/>
                </a:lnTo>
                <a:lnTo>
                  <a:pt x="0" y="68532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TextBox 10"/>
          <p:cNvSpPr txBox="1"/>
          <p:nvPr/>
        </p:nvSpPr>
        <p:spPr>
          <a:xfrm>
            <a:off x="2011680" y="1920240"/>
            <a:ext cx="73152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85C227"/>
                </a:solidFill>
                <a:latin typeface="Montserrat"/>
              </a:rPr>
              <a:t>LIMITES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206240"/>
            <a:ext cx="73152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Montserrat"/>
              </a:rPr>
              <a:t>Afasta ou</a:t>
            </a:r>
          </a:p>
          <a:p>
            <a:pPr algn="l">
              <a:lnSpc>
                <a:spcPct val="100000"/>
              </a:lnSpc>
            </a:pPr>
            <a:r>
              <a:rPr sz="6200" b="1">
                <a:solidFill>
                  <a:srgbClr val="FFFFFF"/>
                </a:solidFill>
                <a:latin typeface="Montserrat"/>
              </a:rPr>
              <a:t>aproxima?</a:t>
            </a:r>
          </a:p>
        </p:txBody>
      </p:sp>
      <p:pic>
        <p:nvPicPr>
          <p:cNvPr id="13" name="Picture 12" descr="st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0" y="6309360"/>
            <a:ext cx="3017520" cy="2258568"/>
          </a:xfrm>
          <a:prstGeom prst="rect">
            <a:avLst/>
          </a:prstGeom>
        </p:spPr>
      </p:pic>
      <p:pic>
        <p:nvPicPr>
          <p:cNvPr id="14" name="Picture 13" descr="x-019-055.jpg"/>
          <p:cNvPicPr>
            <a:picLocks noChangeAspect="1"/>
          </p:cNvPicPr>
          <p:nvPr/>
        </p:nvPicPr>
        <p:blipFill>
          <a:blip r:embed="rId8"/>
          <a:srcRect t="9388" b="9388"/>
          <a:stretch>
            <a:fillRect/>
          </a:stretch>
        </p:blipFill>
        <p:spPr>
          <a:xfrm>
            <a:off x="10515600" y="1216152"/>
            <a:ext cx="6583680" cy="3566160"/>
          </a:xfrm>
          <a:prstGeom prst="roundRect">
            <a:avLst>
              <a:gd name="adj" fmla="val 6000"/>
            </a:avLst>
          </a:prstGeom>
        </p:spPr>
      </p:pic>
      <p:pic>
        <p:nvPicPr>
          <p:cNvPr id="15" name="Picture 14" descr="x-019-054.jpg"/>
          <p:cNvPicPr>
            <a:picLocks noChangeAspect="1"/>
          </p:cNvPicPr>
          <p:nvPr/>
        </p:nvPicPr>
        <p:blipFill>
          <a:blip r:embed="rId9"/>
          <a:srcRect t="9388" b="9388"/>
          <a:stretch>
            <a:fillRect/>
          </a:stretch>
        </p:blipFill>
        <p:spPr>
          <a:xfrm>
            <a:off x="10515600" y="4983480"/>
            <a:ext cx="6583680" cy="3566160"/>
          </a:xfrm>
          <a:prstGeom prst="roundRect">
            <a:avLst>
              <a:gd name="adj" fmla="val 6000"/>
            </a:avLst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2444616" y="1247247"/>
            <a:ext cx="12935616" cy="0"/>
          </a:xfrm>
          <a:prstGeom prst="line">
            <a:avLst/>
          </a:prstGeom>
          <a:ln cap="rnd" w="104775">
            <a:solidFill>
              <a:srgbClr val="005D4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5575829" y="7462918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5" y="0"/>
                </a:lnTo>
                <a:lnTo>
                  <a:pt x="6853225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2650305" y="9050524"/>
            <a:ext cx="17326355" cy="9375903"/>
            <a:chOff x="0" y="0"/>
            <a:chExt cx="2684306" cy="14525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5653054">
            <a:off x="11577267" y="-69147"/>
            <a:ext cx="17326355" cy="9375903"/>
            <a:chOff x="0" y="0"/>
            <a:chExt cx="2684306" cy="14525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pic>
        <p:nvPicPr>
          <p:cNvPr id="8" name="Picture 7" descr="x-020-060.jpg"/>
          <p:cNvPicPr>
            <a:picLocks noChangeAspect="1"/>
          </p:cNvPicPr>
          <p:nvPr/>
        </p:nvPicPr>
        <p:blipFill>
          <a:blip r:embed="rId5"/>
          <a:srcRect l="20729" r="20729"/>
          <a:stretch>
            <a:fillRect/>
          </a:stretch>
        </p:blipFill>
        <p:spPr>
          <a:xfrm>
            <a:off x="9144000" y="1600200"/>
            <a:ext cx="6675120" cy="7589520"/>
          </a:xfrm>
          <a:prstGeom prst="roundRect">
            <a:avLst>
              <a:gd name="adj" fmla="val 6000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280160" y="1371600"/>
            <a:ext cx="7589520" cy="7955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500" b="1">
                <a:solidFill>
                  <a:srgbClr val="2D5C58"/>
                </a:solidFill>
                <a:latin typeface="Montserrat"/>
              </a:rPr>
              <a:t>Limite é cuidado,</a:t>
            </a:r>
          </a:p>
          <a:p>
            <a:pPr algn="l">
              <a:lnSpc>
                <a:spcPct val="95000"/>
              </a:lnSpc>
            </a:pPr>
            <a:r>
              <a:rPr sz="7500" b="1">
                <a:solidFill>
                  <a:srgbClr val="0263BA"/>
                </a:solidFill>
                <a:latin typeface="Montserrat"/>
              </a:rPr>
              <a:t>é segurança,</a:t>
            </a:r>
          </a:p>
          <a:p>
            <a:pPr algn="l">
              <a:lnSpc>
                <a:spcPct val="95000"/>
              </a:lnSpc>
            </a:pPr>
            <a:r>
              <a:rPr sz="7500" b="1">
                <a:solidFill>
                  <a:srgbClr val="69B21C"/>
                </a:solidFill>
                <a:latin typeface="Montserrat"/>
              </a:rPr>
              <a:t>é amor que ensina…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28245219" y="-11627394"/>
            <a:ext cx="51411091" cy="51411091"/>
          </a:xfrm>
          <a:custGeom>
            <a:avLst/>
            <a:gdLst/>
            <a:ahLst/>
            <a:cxnLst/>
            <a:rect r="r" b="b" t="t" l="l"/>
            <a:pathLst>
              <a:path h="51411091" w="51411091">
                <a:moveTo>
                  <a:pt x="0" y="0"/>
                </a:moveTo>
                <a:lnTo>
                  <a:pt x="51411092" y="0"/>
                </a:lnTo>
                <a:lnTo>
                  <a:pt x="51411092" y="51411092"/>
                </a:lnTo>
                <a:lnTo>
                  <a:pt x="0" y="51411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055258" y="6808582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98770" y="1028700"/>
            <a:ext cx="15208026" cy="8229600"/>
            <a:chOff x="0" y="0"/>
            <a:chExt cx="2684306" cy="14525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30035" y="0"/>
                  </a:moveTo>
                  <a:lnTo>
                    <a:pt x="2654271" y="0"/>
                  </a:lnTo>
                  <a:cubicBezTo>
                    <a:pt x="2670859" y="0"/>
                    <a:pt x="2684306" y="13447"/>
                    <a:pt x="2684306" y="30035"/>
                  </a:cubicBezTo>
                  <a:lnTo>
                    <a:pt x="2684306" y="1422538"/>
                  </a:lnTo>
                  <a:cubicBezTo>
                    <a:pt x="2684306" y="1430503"/>
                    <a:pt x="2681141" y="1438143"/>
                    <a:pt x="2675509" y="1443776"/>
                  </a:cubicBezTo>
                  <a:cubicBezTo>
                    <a:pt x="2669876" y="1449408"/>
                    <a:pt x="2662237" y="1452573"/>
                    <a:pt x="2654271" y="1452573"/>
                  </a:cubicBezTo>
                  <a:lnTo>
                    <a:pt x="30035" y="1452573"/>
                  </a:lnTo>
                  <a:cubicBezTo>
                    <a:pt x="13447" y="1452573"/>
                    <a:pt x="0" y="1439126"/>
                    <a:pt x="0" y="1422538"/>
                  </a:cubicBezTo>
                  <a:lnTo>
                    <a:pt x="0" y="30035"/>
                  </a:lnTo>
                  <a:cubicBezTo>
                    <a:pt x="0" y="13447"/>
                    <a:pt x="13447" y="0"/>
                    <a:pt x="3003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2376814" y="1205219"/>
            <a:ext cx="14035496" cy="2299902"/>
            <a:chOff x="0" y="0"/>
            <a:chExt cx="3436841" cy="5631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36841" cy="563172"/>
            </a:xfrm>
            <a:custGeom>
              <a:avLst/>
              <a:gdLst/>
              <a:ahLst/>
              <a:cxnLst/>
              <a:rect r="r" b="b" t="t" l="l"/>
              <a:pathLst>
                <a:path h="563172" w="3436841">
                  <a:moveTo>
                    <a:pt x="30338" y="0"/>
                  </a:moveTo>
                  <a:lnTo>
                    <a:pt x="3406503" y="0"/>
                  </a:lnTo>
                  <a:cubicBezTo>
                    <a:pt x="3414549" y="0"/>
                    <a:pt x="3422266" y="3196"/>
                    <a:pt x="3427955" y="8886"/>
                  </a:cubicBezTo>
                  <a:cubicBezTo>
                    <a:pt x="3433645" y="14575"/>
                    <a:pt x="3436841" y="22292"/>
                    <a:pt x="3436841" y="30338"/>
                  </a:cubicBezTo>
                  <a:lnTo>
                    <a:pt x="3436841" y="532834"/>
                  </a:lnTo>
                  <a:cubicBezTo>
                    <a:pt x="3436841" y="540880"/>
                    <a:pt x="3433645" y="548597"/>
                    <a:pt x="3427955" y="554286"/>
                  </a:cubicBezTo>
                  <a:cubicBezTo>
                    <a:pt x="3422266" y="559976"/>
                    <a:pt x="3414549" y="563172"/>
                    <a:pt x="3406503" y="563172"/>
                  </a:cubicBezTo>
                  <a:lnTo>
                    <a:pt x="30338" y="563172"/>
                  </a:lnTo>
                  <a:cubicBezTo>
                    <a:pt x="22292" y="563172"/>
                    <a:pt x="14575" y="559976"/>
                    <a:pt x="8886" y="554286"/>
                  </a:cubicBezTo>
                  <a:cubicBezTo>
                    <a:pt x="3196" y="548597"/>
                    <a:pt x="0" y="540880"/>
                    <a:pt x="0" y="532834"/>
                  </a:cubicBezTo>
                  <a:lnTo>
                    <a:pt x="0" y="30338"/>
                  </a:lnTo>
                  <a:cubicBezTo>
                    <a:pt x="0" y="22292"/>
                    <a:pt x="3196" y="14575"/>
                    <a:pt x="8886" y="8886"/>
                  </a:cubicBezTo>
                  <a:cubicBezTo>
                    <a:pt x="14575" y="3196"/>
                    <a:pt x="22292" y="0"/>
                    <a:pt x="30338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436841" cy="6012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743200" y="1325880"/>
            <a:ext cx="13350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5800" b="1">
                <a:solidFill>
                  <a:srgbClr val="FFFFFF"/>
                </a:solidFill>
                <a:latin typeface="Montserrat"/>
              </a:rPr>
              <a:t>Nosso dia a dia está cada vez</a:t>
            </a:r>
          </a:p>
          <a:p>
            <a:pPr algn="ctr">
              <a:lnSpc>
                <a:spcPct val="90000"/>
              </a:lnSpc>
            </a:pPr>
            <a:r>
              <a:rPr sz="5800" b="1">
                <a:solidFill>
                  <a:srgbClr val="FFFFFF"/>
                </a:solidFill>
                <a:latin typeface="Montserrat"/>
              </a:rPr>
              <a:t>mais acelerado!</a:t>
            </a:r>
          </a:p>
        </p:txBody>
      </p:sp>
      <p:pic>
        <p:nvPicPr>
          <p:cNvPr id="13" name="Picture 12" descr="x-021-063.jpg"/>
          <p:cNvPicPr>
            <a:picLocks noChangeAspect="1"/>
          </p:cNvPicPr>
          <p:nvPr/>
        </p:nvPicPr>
        <p:blipFill>
          <a:blip r:embed="rId4"/>
          <a:srcRect l="6683" r="6683"/>
          <a:stretch>
            <a:fillRect/>
          </a:stretch>
        </p:blipFill>
        <p:spPr>
          <a:xfrm>
            <a:off x="2377440" y="3794760"/>
            <a:ext cx="6652260" cy="5120640"/>
          </a:xfrm>
          <a:prstGeom prst="roundRect">
            <a:avLst>
              <a:gd name="adj" fmla="val 6000"/>
            </a:avLst>
          </a:prstGeom>
        </p:spPr>
      </p:pic>
      <p:pic>
        <p:nvPicPr>
          <p:cNvPr id="14" name="Picture 13" descr="x-021-064.jpg"/>
          <p:cNvPicPr>
            <a:picLocks noChangeAspect="1"/>
          </p:cNvPicPr>
          <p:nvPr/>
        </p:nvPicPr>
        <p:blipFill>
          <a:blip r:embed="rId5"/>
          <a:srcRect l="6642" r="6642"/>
          <a:stretch>
            <a:fillRect/>
          </a:stretch>
        </p:blipFill>
        <p:spPr>
          <a:xfrm>
            <a:off x="9349740" y="3794760"/>
            <a:ext cx="6652260" cy="5120640"/>
          </a:xfrm>
          <a:prstGeom prst="roundRect">
            <a:avLst>
              <a:gd name="adj" fmla="val 6000"/>
            </a:avLst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2463108" y="976312"/>
            <a:ext cx="12935616" cy="0"/>
          </a:xfrm>
          <a:prstGeom prst="line">
            <a:avLst/>
          </a:prstGeom>
          <a:ln cap="rnd" w="104775">
            <a:solidFill>
              <a:srgbClr val="85C22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3480300" y="-4431871"/>
            <a:ext cx="6853224" cy="6853224"/>
          </a:xfrm>
          <a:custGeom>
            <a:avLst/>
            <a:gdLst/>
            <a:ahLst/>
            <a:cxnLst/>
            <a:rect r="r" b="b" t="t" l="l"/>
            <a:pathLst>
              <a:path h="6853224" w="6853224">
                <a:moveTo>
                  <a:pt x="0" y="0"/>
                </a:moveTo>
                <a:lnTo>
                  <a:pt x="6853224" y="0"/>
                </a:lnTo>
                <a:lnTo>
                  <a:pt x="6853224" y="6853224"/>
                </a:lnTo>
                <a:lnTo>
                  <a:pt x="0" y="68532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1750525" y="7862825"/>
            <a:ext cx="17326355" cy="9375903"/>
            <a:chOff x="0" y="0"/>
            <a:chExt cx="2684306" cy="14525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5653054">
            <a:off x="8998781" y="-748616"/>
            <a:ext cx="17326355" cy="9375903"/>
            <a:chOff x="0" y="0"/>
            <a:chExt cx="2684306" cy="145257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6363" y="0"/>
                  </a:moveTo>
                  <a:lnTo>
                    <a:pt x="2657943" y="0"/>
                  </a:lnTo>
                  <a:cubicBezTo>
                    <a:pt x="2664935" y="0"/>
                    <a:pt x="2671640" y="2778"/>
                    <a:pt x="2676584" y="7722"/>
                  </a:cubicBezTo>
                  <a:cubicBezTo>
                    <a:pt x="2681528" y="12666"/>
                    <a:pt x="2684306" y="19371"/>
                    <a:pt x="2684306" y="26363"/>
                  </a:cubicBezTo>
                  <a:lnTo>
                    <a:pt x="2684306" y="1426210"/>
                  </a:lnTo>
                  <a:cubicBezTo>
                    <a:pt x="2684306" y="1433202"/>
                    <a:pt x="2681528" y="1439907"/>
                    <a:pt x="2676584" y="1444851"/>
                  </a:cubicBezTo>
                  <a:cubicBezTo>
                    <a:pt x="2671640" y="1449795"/>
                    <a:pt x="2664935" y="1452573"/>
                    <a:pt x="2657943" y="1452573"/>
                  </a:cubicBezTo>
                  <a:lnTo>
                    <a:pt x="26363" y="1452573"/>
                  </a:lnTo>
                  <a:cubicBezTo>
                    <a:pt x="19371" y="1452573"/>
                    <a:pt x="12666" y="1449795"/>
                    <a:pt x="7722" y="1444851"/>
                  </a:cubicBezTo>
                  <a:cubicBezTo>
                    <a:pt x="2778" y="1439907"/>
                    <a:pt x="0" y="1433202"/>
                    <a:pt x="0" y="1426210"/>
                  </a:cubicBezTo>
                  <a:lnTo>
                    <a:pt x="0" y="26363"/>
                  </a:lnTo>
                  <a:cubicBezTo>
                    <a:pt x="0" y="19371"/>
                    <a:pt x="2778" y="12666"/>
                    <a:pt x="7722" y="7722"/>
                  </a:cubicBezTo>
                  <a:cubicBezTo>
                    <a:pt x="12666" y="2778"/>
                    <a:pt x="19371" y="0"/>
                    <a:pt x="26363" y="0"/>
                  </a:cubicBezTo>
                  <a:close/>
                </a:path>
              </a:pathLst>
            </a:custGeom>
            <a:blipFill>
              <a:blip r:embed="rId4"/>
              <a:stretch>
                <a:fillRect l="-21437" t="0" r="-21437" b="0"/>
              </a:stretch>
            </a:blipFill>
          </p:spPr>
        </p:sp>
      </p:grpSp>
      <p:pic>
        <p:nvPicPr>
          <p:cNvPr id="8" name="Picture 7" descr="x-022-067.jpg"/>
          <p:cNvPicPr>
            <a:picLocks noChangeAspect="1"/>
          </p:cNvPicPr>
          <p:nvPr/>
        </p:nvPicPr>
        <p:blipFill>
          <a:blip r:embed="rId5"/>
          <a:srcRect l="20674" r="20674"/>
          <a:stretch>
            <a:fillRect/>
          </a:stretch>
        </p:blipFill>
        <p:spPr>
          <a:xfrm>
            <a:off x="9144000" y="1600200"/>
            <a:ext cx="6675120" cy="7589520"/>
          </a:xfrm>
          <a:prstGeom prst="roundRect">
            <a:avLst>
              <a:gd name="adj" fmla="val 6000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280160" y="1371600"/>
            <a:ext cx="7589520" cy="79552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500" b="1">
                <a:solidFill>
                  <a:srgbClr val="2D5C58"/>
                </a:solidFill>
                <a:latin typeface="Montserrat"/>
              </a:rPr>
              <a:t>Quando você está só</a:t>
            </a:r>
          </a:p>
          <a:p>
            <a:pPr algn="l">
              <a:lnSpc>
                <a:spcPct val="95000"/>
              </a:lnSpc>
            </a:pPr>
            <a:r>
              <a:rPr sz="5500" b="1">
                <a:solidFill>
                  <a:srgbClr val="0263BA"/>
                </a:solidFill>
                <a:latin typeface="Montserrat"/>
              </a:rPr>
              <a:t>apagando incêndios</a:t>
            </a:r>
          </a:p>
          <a:p>
            <a:pPr algn="l">
              <a:lnSpc>
                <a:spcPct val="95000"/>
              </a:lnSpc>
            </a:pPr>
            <a:r>
              <a:rPr sz="5500" b="1">
                <a:solidFill>
                  <a:srgbClr val="2D5C58"/>
                </a:solidFill>
                <a:latin typeface="Montserrat"/>
              </a:rPr>
              <a:t>não está educando com</a:t>
            </a:r>
          </a:p>
          <a:p>
            <a:pPr algn="l">
              <a:lnSpc>
                <a:spcPct val="95000"/>
              </a:lnSpc>
            </a:pPr>
            <a:r>
              <a:rPr sz="5500" b="1">
                <a:solidFill>
                  <a:srgbClr val="69B21C"/>
                </a:solidFill>
                <a:latin typeface="Montserrat"/>
              </a:rPr>
              <a:t>intencionalidade!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5916258" y="3290594"/>
            <a:ext cx="992106" cy="1053394"/>
          </a:xfrm>
          <a:custGeom>
            <a:avLst/>
            <a:gdLst/>
            <a:ahLst/>
            <a:cxnLst/>
            <a:rect r="r" b="b" t="t" l="l"/>
            <a:pathLst>
              <a:path h="1053394" w="992106">
                <a:moveTo>
                  <a:pt x="0" y="0"/>
                </a:moveTo>
                <a:lnTo>
                  <a:pt x="992106" y="0"/>
                </a:lnTo>
                <a:lnTo>
                  <a:pt x="992106" y="1053395"/>
                </a:lnTo>
                <a:lnTo>
                  <a:pt x="0" y="1053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58092" y="-116124"/>
            <a:ext cx="19576588" cy="10593583"/>
            <a:chOff x="0" y="0"/>
            <a:chExt cx="2684306" cy="14525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84306" cy="1452573"/>
            </a:xfrm>
            <a:custGeom>
              <a:avLst/>
              <a:gdLst/>
              <a:ahLst/>
              <a:cxnLst/>
              <a:rect r="r" b="b" t="t" l="l"/>
              <a:pathLst>
                <a:path h="1452573" w="2684306">
                  <a:moveTo>
                    <a:pt x="23333" y="0"/>
                  </a:moveTo>
                  <a:lnTo>
                    <a:pt x="2660973" y="0"/>
                  </a:lnTo>
                  <a:cubicBezTo>
                    <a:pt x="2673859" y="0"/>
                    <a:pt x="2684306" y="10446"/>
                    <a:pt x="2684306" y="23333"/>
                  </a:cubicBezTo>
                  <a:lnTo>
                    <a:pt x="2684306" y="1429240"/>
                  </a:lnTo>
                  <a:cubicBezTo>
                    <a:pt x="2684306" y="1435428"/>
                    <a:pt x="2681848" y="1441363"/>
                    <a:pt x="2677472" y="1445739"/>
                  </a:cubicBezTo>
                  <a:cubicBezTo>
                    <a:pt x="2673096" y="1450114"/>
                    <a:pt x="2667161" y="1452573"/>
                    <a:pt x="2660973" y="1452573"/>
                  </a:cubicBezTo>
                  <a:lnTo>
                    <a:pt x="23333" y="1452573"/>
                  </a:lnTo>
                  <a:cubicBezTo>
                    <a:pt x="10446" y="1452573"/>
                    <a:pt x="0" y="1442126"/>
                    <a:pt x="0" y="1429240"/>
                  </a:cubicBezTo>
                  <a:lnTo>
                    <a:pt x="0" y="23333"/>
                  </a:lnTo>
                  <a:cubicBezTo>
                    <a:pt x="0" y="10446"/>
                    <a:pt x="10446" y="0"/>
                    <a:pt x="233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36554">
                    <a:alpha val="100000"/>
                  </a:srgbClr>
                </a:gs>
                <a:gs pos="100000">
                  <a:srgbClr val="0564B9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Freeform 5" id="5"/>
          <p:cNvSpPr/>
          <p:nvPr/>
        </p:nvSpPr>
        <p:spPr>
          <a:xfrm flipH="false" flipV="false" rot="1383930">
            <a:off x="-4511309" y="2899050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383930">
            <a:off x="13591777" y="548069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8" y="0"/>
                </a:lnTo>
                <a:lnTo>
                  <a:pt x="9022618" y="9022617"/>
                </a:lnTo>
                <a:lnTo>
                  <a:pt x="0" y="90226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383930">
            <a:off x="13318875" y="-4511309"/>
            <a:ext cx="9022617" cy="9022617"/>
          </a:xfrm>
          <a:custGeom>
            <a:avLst/>
            <a:gdLst/>
            <a:ahLst/>
            <a:cxnLst/>
            <a:rect r="r" b="b" t="t" l="l"/>
            <a:pathLst>
              <a:path h="9022617" w="9022617">
                <a:moveTo>
                  <a:pt x="0" y="0"/>
                </a:moveTo>
                <a:lnTo>
                  <a:pt x="9022617" y="0"/>
                </a:lnTo>
                <a:lnTo>
                  <a:pt x="9022617" y="9022618"/>
                </a:lnTo>
                <a:lnTo>
                  <a:pt x="0" y="902261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id="12" name="Picture 11" descr="x-023-070.jpg"/>
          <p:cNvPicPr>
            <a:picLocks noChangeAspect="1"/>
          </p:cNvPicPr>
          <p:nvPr/>
        </p:nvPicPr>
        <p:blipFill>
          <a:blip r:embed="rId10"/>
          <a:srcRect t="7379" b="7379"/>
          <a:stretch>
            <a:fillRect/>
          </a:stretch>
        </p:blipFill>
        <p:spPr>
          <a:xfrm>
            <a:off x="1463040" y="777240"/>
            <a:ext cx="15361920" cy="8732520"/>
          </a:xfrm>
          <a:prstGeom prst="roundRect">
            <a:avLst>
              <a:gd name="adj" fmla="val 4000"/>
            </a:avLst>
          </a:prstGeom>
        </p:spPr>
      </p:pic>
      <p:grpSp>
        <p:nvGrpSpPr>
          <p:cNvPr name="Group 7" id="7"/>
          <p:cNvGrpSpPr/>
          <p:nvPr/>
        </p:nvGrpSpPr>
        <p:grpSpPr>
          <a:xfrm rot="0">
            <a:off x="2258568" y="6903720"/>
            <a:ext cx="14143396" cy="2713401"/>
            <a:chOff x="0" y="0"/>
            <a:chExt cx="3463262" cy="66442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463262" cy="664425"/>
            </a:xfrm>
            <a:custGeom>
              <a:avLst/>
              <a:gdLst/>
              <a:ahLst/>
              <a:cxnLst/>
              <a:rect r="r" b="b" t="t" l="l"/>
              <a:pathLst>
                <a:path h="664425" w="3463262">
                  <a:moveTo>
                    <a:pt x="30106" y="0"/>
                  </a:moveTo>
                  <a:lnTo>
                    <a:pt x="3433156" y="0"/>
                  </a:lnTo>
                  <a:cubicBezTo>
                    <a:pt x="3449783" y="0"/>
                    <a:pt x="3463262" y="13479"/>
                    <a:pt x="3463262" y="30106"/>
                  </a:cubicBezTo>
                  <a:lnTo>
                    <a:pt x="3463262" y="634318"/>
                  </a:lnTo>
                  <a:cubicBezTo>
                    <a:pt x="3463262" y="642303"/>
                    <a:pt x="3460090" y="649961"/>
                    <a:pt x="3454444" y="655607"/>
                  </a:cubicBezTo>
                  <a:cubicBezTo>
                    <a:pt x="3448798" y="661253"/>
                    <a:pt x="3441141" y="664425"/>
                    <a:pt x="3433156" y="664425"/>
                  </a:cubicBezTo>
                  <a:lnTo>
                    <a:pt x="30106" y="664425"/>
                  </a:lnTo>
                  <a:cubicBezTo>
                    <a:pt x="13479" y="664425"/>
                    <a:pt x="0" y="650946"/>
                    <a:pt x="0" y="634318"/>
                  </a:cubicBezTo>
                  <a:lnTo>
                    <a:pt x="0" y="30106"/>
                  </a:lnTo>
                  <a:cubicBezTo>
                    <a:pt x="0" y="22122"/>
                    <a:pt x="3172" y="14464"/>
                    <a:pt x="8818" y="8818"/>
                  </a:cubicBezTo>
                  <a:cubicBezTo>
                    <a:pt x="14464" y="3172"/>
                    <a:pt x="22122" y="0"/>
                    <a:pt x="30106" y="0"/>
                  </a:cubicBezTo>
                  <a:close/>
                </a:path>
              </a:pathLst>
            </a:custGeom>
            <a:solidFill>
              <a:srgbClr val="85C227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463262" cy="702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67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2514600" y="7269480"/>
            <a:ext cx="1362456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Montserrat"/>
              </a:rPr>
              <a:t>Proprietário ou Embaixador?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2628692" y="2069172"/>
            <a:ext cx="15385004" cy="0"/>
          </a:xfrm>
          <a:prstGeom prst="line">
            <a:avLst/>
          </a:prstGeom>
          <a:ln cap="rnd" w="104775">
            <a:solidFill>
              <a:srgbClr val="85C22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462285" y="0"/>
            <a:ext cx="7697702" cy="10887988"/>
          </a:xfrm>
          <a:custGeom>
            <a:avLst/>
            <a:gdLst/>
            <a:ahLst/>
            <a:cxnLst/>
            <a:rect r="r" b="b" t="t" l="l"/>
            <a:pathLst>
              <a:path h="10887988" w="7697702">
                <a:moveTo>
                  <a:pt x="0" y="0"/>
                </a:moveTo>
                <a:lnTo>
                  <a:pt x="7697702" y="0"/>
                </a:lnTo>
                <a:lnTo>
                  <a:pt x="7697702" y="10887988"/>
                </a:lnTo>
                <a:lnTo>
                  <a:pt x="0" y="108879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429" t="0" r="-16066" b="0"/>
            </a:stretch>
          </a:blipFill>
        </p:spPr>
      </p:sp>
      <p:sp>
        <p:nvSpPr>
          <p:cNvPr id="4" name="TextBox 3"/>
          <p:cNvSpPr txBox="1"/>
          <p:nvPr/>
        </p:nvSpPr>
        <p:spPr>
          <a:xfrm>
            <a:off x="8156448" y="3291840"/>
            <a:ext cx="9537192" cy="3657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0" b="1">
                <a:solidFill>
                  <a:srgbClr val="0263BA"/>
                </a:solidFill>
                <a:latin typeface="Montserrat"/>
              </a:rPr>
              <a:t>Educar com intenção</a:t>
            </a:r>
          </a:p>
          <a:p>
            <a:pPr algn="ctr">
              <a:lnSpc>
                <a:spcPct val="95000"/>
              </a:lnSpc>
            </a:pPr>
            <a:r>
              <a:rPr sz="7000" b="1">
                <a:solidFill>
                  <a:srgbClr val="0263BA"/>
                </a:solidFill>
                <a:latin typeface="Montserrat"/>
              </a:rPr>
              <a:t>é escolher</a:t>
            </a:r>
          </a:p>
          <a:p>
            <a:pPr algn="ctr">
              <a:lnSpc>
                <a:spcPct val="95000"/>
              </a:lnSpc>
            </a:pPr>
            <a:r>
              <a:rPr sz="7000" b="1">
                <a:solidFill>
                  <a:srgbClr val="69B21C"/>
                </a:solidFill>
                <a:latin typeface="Montserrat"/>
              </a:rPr>
              <a:t>estar presente.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454272" cy="10334393"/>
          </a:xfrm>
          <a:custGeom>
            <a:avLst/>
            <a:gdLst/>
            <a:ahLst/>
            <a:cxnLst/>
            <a:rect r="r" b="b" t="t" l="l"/>
            <a:pathLst>
              <a:path h="10334393" w="18454272">
                <a:moveTo>
                  <a:pt x="0" y="0"/>
                </a:moveTo>
                <a:lnTo>
                  <a:pt x="18454272" y="0"/>
                </a:lnTo>
                <a:lnTo>
                  <a:pt x="18454272" y="10334393"/>
                </a:lnTo>
                <a:lnTo>
                  <a:pt x="0" y="103343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354698" y="263581"/>
            <a:ext cx="4040230" cy="1530237"/>
          </a:xfrm>
          <a:custGeom>
            <a:avLst/>
            <a:gdLst/>
            <a:ahLst/>
            <a:cxnLst/>
            <a:rect r="r" b="b" t="t" l="l"/>
            <a:pathLst>
              <a:path h="1530237" w="4040230">
                <a:moveTo>
                  <a:pt x="0" y="0"/>
                </a:moveTo>
                <a:lnTo>
                  <a:pt x="4040230" y="0"/>
                </a:lnTo>
                <a:lnTo>
                  <a:pt x="4040230" y="1530238"/>
                </a:lnTo>
                <a:lnTo>
                  <a:pt x="0" y="1530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9422871" y="2086105"/>
            <a:ext cx="7505586" cy="7548992"/>
          </a:xfrm>
          <a:custGeom>
            <a:avLst/>
            <a:gdLst/>
            <a:ahLst/>
            <a:cxnLst/>
            <a:rect r="r" b="b" t="t" l="l"/>
            <a:pathLst>
              <a:path h="7548992" w="7505586">
                <a:moveTo>
                  <a:pt x="0" y="0"/>
                </a:moveTo>
                <a:lnTo>
                  <a:pt x="7505586" y="0"/>
                </a:lnTo>
                <a:lnTo>
                  <a:pt x="7505586" y="7548992"/>
                </a:lnTo>
                <a:lnTo>
                  <a:pt x="0" y="75489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32854" r="0" b="-32854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80903" y="6135675"/>
            <a:ext cx="857512" cy="857512"/>
          </a:xfrm>
          <a:custGeom>
            <a:avLst/>
            <a:gdLst/>
            <a:ahLst/>
            <a:cxnLst/>
            <a:rect r="r" b="b" t="t" l="l"/>
            <a:pathLst>
              <a:path h="857512" w="857512">
                <a:moveTo>
                  <a:pt x="0" y="0"/>
                </a:moveTo>
                <a:lnTo>
                  <a:pt x="857513" y="0"/>
                </a:lnTo>
                <a:lnTo>
                  <a:pt x="857513" y="857512"/>
                </a:lnTo>
                <a:lnTo>
                  <a:pt x="0" y="857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217266" y="6059475"/>
            <a:ext cx="10958397" cy="331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</a:pPr>
            <a:r>
              <a:rPr lang="en-US" sz="3800" b="1">
                <a:solidFill>
                  <a:srgbClr val="2D5C58"/>
                </a:solidFill>
                <a:latin typeface="Montserrat"/>
                <a:ea typeface="Montserrat Bold"/>
                <a:cs typeface="Montserrat Bold"/>
                <a:sym typeface="Montserrat Bold"/>
              </a:rPr>
              <a:t>@integra_escoladepais</a:t>
            </a:r>
          </a:p>
          <a:p>
            <a:pPr algn="l">
              <a:lnSpc>
                <a:spcPts val="5320"/>
              </a:lnSpc>
            </a:pPr>
          </a:p>
          <a:p>
            <a:pPr algn="l">
              <a:lnSpc>
                <a:spcPts val="5320"/>
              </a:lnSpc>
            </a:pPr>
            <a:r>
              <a:rPr lang="en-US" sz="3800" b="1">
                <a:solidFill>
                  <a:srgbClr val="2D5C58"/>
                </a:solidFill>
                <a:latin typeface="Montserrat"/>
                <a:ea typeface="Montserrat Bold"/>
                <a:cs typeface="Montserrat Bold"/>
                <a:sym typeface="Montserrat Bold"/>
              </a:rPr>
              <a:t>(11) 94702-8640</a:t>
            </a:r>
          </a:p>
          <a:p>
            <a:pPr algn="l">
              <a:lnSpc>
                <a:spcPts val="5320"/>
              </a:lnSpc>
            </a:pPr>
          </a:p>
          <a:p>
            <a:pPr algn="l">
              <a:lnSpc>
                <a:spcPts val="5320"/>
              </a:lnSpc>
            </a:pPr>
            <a:r>
              <a:rPr lang="en-US" sz="3800" b="1">
                <a:solidFill>
                  <a:srgbClr val="2D5C58"/>
                </a:solidFill>
                <a:latin typeface="Montserrat"/>
                <a:ea typeface="Montserrat Bold"/>
                <a:cs typeface="Montserrat Bold"/>
                <a:sym typeface="Montserrat Bold"/>
              </a:rPr>
              <a:t>contato@integraescoladepais.com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28700" y="7270692"/>
            <a:ext cx="961919" cy="967195"/>
          </a:xfrm>
          <a:custGeom>
            <a:avLst/>
            <a:gdLst/>
            <a:ahLst/>
            <a:cxnLst/>
            <a:rect r="r" b="b" t="t" l="l"/>
            <a:pathLst>
              <a:path h="967195" w="961919">
                <a:moveTo>
                  <a:pt x="0" y="0"/>
                </a:moveTo>
                <a:lnTo>
                  <a:pt x="961919" y="0"/>
                </a:lnTo>
                <a:lnTo>
                  <a:pt x="961919" y="967195"/>
                </a:lnTo>
                <a:lnTo>
                  <a:pt x="0" y="96719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978519" y="8613856"/>
            <a:ext cx="1062281" cy="759048"/>
          </a:xfrm>
          <a:custGeom>
            <a:avLst/>
            <a:gdLst/>
            <a:ahLst/>
            <a:cxnLst/>
            <a:rect r="r" b="b" t="t" l="l"/>
            <a:pathLst>
              <a:path h="759048" w="1062281">
                <a:moveTo>
                  <a:pt x="0" y="0"/>
                </a:moveTo>
                <a:lnTo>
                  <a:pt x="1062281" y="0"/>
                </a:lnTo>
                <a:lnTo>
                  <a:pt x="1062281" y="759048"/>
                </a:lnTo>
                <a:lnTo>
                  <a:pt x="0" y="75904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DAHV1ClZwQs</dc:identifier>
  <dcterms:modified xsi:type="dcterms:W3CDTF">2011-08-01T06:04:30Z</dcterms:modified>
  <cp:revision>1</cp:revision>
  <dc:title>Emoções que Protegem</dc:title>
</cp:coreProperties>
</file>